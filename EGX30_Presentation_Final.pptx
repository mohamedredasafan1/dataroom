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847">
              <a:alpha val="60000"/>
            </a:srgbClr>
          </a:solidFill>
          <a:ln/>
        </p:spPr>
      </p:sp>
      <p:sp>
        <p:nvSpPr>
          <p:cNvPr id="3" name="Shape 1"/>
          <p:cNvSpPr/>
          <p:nvPr/>
        </p:nvSpPr>
        <p:spPr>
          <a:xfrm>
            <a:off x="548640" y="914400"/>
            <a:ext cx="54864" cy="2011680"/>
          </a:xfrm>
          <a:prstGeom prst="rect">
            <a:avLst/>
          </a:prstGeom>
          <a:solidFill>
            <a:srgbClr val="22D3EE"/>
          </a:solidFill>
          <a:ln/>
        </p:spPr>
      </p:sp>
      <p:sp>
        <p:nvSpPr>
          <p:cNvPr id="4" name="Text 2"/>
          <p:cNvSpPr/>
          <p:nvPr/>
        </p:nvSpPr>
        <p:spPr>
          <a:xfrm>
            <a:off x="822960" y="914400"/>
            <a:ext cx="5943600" cy="502920"/>
          </a:xfrm>
          <a:prstGeom prst="rect">
            <a:avLst/>
          </a:prstGeom>
          <a:noFill/>
          <a:ln/>
        </p:spPr>
        <p:txBody>
          <a:bodyPr wrap="square" lIns="0" tIns="0" rIns="0" bIns="0" rtlCol="0" anchor="ctr"/>
          <a:lstStyle/>
          <a:p>
            <a:pPr indent="0" marL="0">
              <a:buNone/>
            </a:pPr>
            <a:r>
              <a:rPr lang="en-US" sz="2000" dirty="0">
                <a:solidFill>
                  <a:srgbClr val="22D3EE"/>
                </a:solidFill>
                <a:latin typeface="Trebuchet MS" pitchFamily="34" charset="0"/>
                <a:ea typeface="Trebuchet MS" pitchFamily="34" charset="-122"/>
                <a:cs typeface="Trebuchet MS" pitchFamily="34" charset="-120"/>
              </a:rPr>
              <a:t>Predictive Analysis of</a:t>
            </a:r>
            <a:endParaRPr lang="en-US" sz="2000" dirty="0"/>
          </a:p>
        </p:txBody>
      </p:sp>
      <p:sp>
        <p:nvSpPr>
          <p:cNvPr id="5" name="Text 3"/>
          <p:cNvSpPr/>
          <p:nvPr/>
        </p:nvSpPr>
        <p:spPr>
          <a:xfrm>
            <a:off x="822960" y="1371600"/>
            <a:ext cx="5943600" cy="822960"/>
          </a:xfrm>
          <a:prstGeom prst="rect">
            <a:avLst/>
          </a:prstGeom>
          <a:noFill/>
          <a:ln/>
        </p:spPr>
        <p:txBody>
          <a:bodyPr wrap="square" lIns="0" tIns="0" rIns="0" bIns="0" rtlCol="0" anchor="ctr"/>
          <a:lstStyle/>
          <a:p>
            <a:pPr indent="0" marL="0">
              <a:buNone/>
            </a:pPr>
            <a:r>
              <a:rPr lang="en-US" sz="4000" b="1" dirty="0">
                <a:solidFill>
                  <a:srgbClr val="FFFFFF"/>
                </a:solidFill>
                <a:latin typeface="Trebuchet MS" pitchFamily="34" charset="0"/>
                <a:ea typeface="Trebuchet MS" pitchFamily="34" charset="-122"/>
                <a:cs typeface="Trebuchet MS" pitchFamily="34" charset="-120"/>
              </a:rPr>
              <a:t>EGX30 Stock Trends</a:t>
            </a:r>
            <a:endParaRPr lang="en-US" sz="4000" dirty="0"/>
          </a:p>
        </p:txBody>
      </p:sp>
      <p:sp>
        <p:nvSpPr>
          <p:cNvPr id="6" name="Text 4"/>
          <p:cNvSpPr/>
          <p:nvPr/>
        </p:nvSpPr>
        <p:spPr>
          <a:xfrm>
            <a:off x="822960" y="2148840"/>
            <a:ext cx="3657600" cy="457200"/>
          </a:xfrm>
          <a:prstGeom prst="rect">
            <a:avLst/>
          </a:prstGeom>
          <a:noFill/>
          <a:ln/>
        </p:spPr>
        <p:txBody>
          <a:bodyPr wrap="square" lIns="0" tIns="0" rIns="0" bIns="0" rtlCol="0" anchor="ctr"/>
          <a:lstStyle/>
          <a:p>
            <a:pPr indent="0" marL="0">
              <a:buNone/>
            </a:pPr>
            <a:r>
              <a:rPr lang="en-US" sz="2200" b="1" dirty="0">
                <a:solidFill>
                  <a:srgbClr val="F59E0B"/>
                </a:solidFill>
                <a:latin typeface="Trebuchet MS" pitchFamily="34" charset="0"/>
                <a:ea typeface="Trebuchet MS" pitchFamily="34" charset="-122"/>
                <a:cs typeface="Trebuchet MS" pitchFamily="34" charset="-120"/>
              </a:rPr>
              <a:t>2021 – 2026</a:t>
            </a:r>
            <a:endParaRPr lang="en-US" sz="2200" dirty="0"/>
          </a:p>
        </p:txBody>
      </p:sp>
      <p:sp>
        <p:nvSpPr>
          <p:cNvPr id="7" name="Text 5"/>
          <p:cNvSpPr/>
          <p:nvPr/>
        </p:nvSpPr>
        <p:spPr>
          <a:xfrm>
            <a:off x="822960" y="2834640"/>
            <a:ext cx="7315200" cy="320040"/>
          </a:xfrm>
          <a:prstGeom prst="rect">
            <a:avLst/>
          </a:prstGeom>
          <a:noFill/>
          <a:ln/>
        </p:spPr>
        <p:txBody>
          <a:bodyPr wrap="square" lIns="0" tIns="0" rIns="0" bIns="0" rtlCol="0" anchor="ctr"/>
          <a:lstStyle/>
          <a:p>
            <a:pPr indent="0" marL="0">
              <a:buNone/>
            </a:pPr>
            <a:r>
              <a:rPr lang="en-US" sz="1300" dirty="0">
                <a:solidFill>
                  <a:srgbClr val="64748B"/>
                </a:solidFill>
                <a:latin typeface="Calibri" pitchFamily="34" charset="0"/>
                <a:ea typeface="Calibri" pitchFamily="34" charset="-122"/>
                <a:cs typeface="Calibri" pitchFamily="34" charset="-120"/>
              </a:rPr>
              <a:t>10 stocks  •  5 sectors  •  12,340 data points</a:t>
            </a:r>
            <a:endParaRPr lang="en-US" sz="1300" dirty="0"/>
          </a:p>
        </p:txBody>
      </p:sp>
      <p:sp>
        <p:nvSpPr>
          <p:cNvPr id="8" name="Text 6"/>
          <p:cNvSpPr/>
          <p:nvPr/>
        </p:nvSpPr>
        <p:spPr>
          <a:xfrm>
            <a:off x="822960" y="3840480"/>
            <a:ext cx="731520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Mohamed Reda  •  Yousef Mohamed  •  Taha Ahmed  •  Adham Abdo</a:t>
            </a:r>
            <a:endParaRPr lang="en-US" sz="1200" dirty="0"/>
          </a:p>
        </p:txBody>
      </p:sp>
      <p:sp>
        <p:nvSpPr>
          <p:cNvPr id="9" name="Text 7"/>
          <p:cNvSpPr/>
          <p:nvPr/>
        </p:nvSpPr>
        <p:spPr>
          <a:xfrm>
            <a:off x="822960" y="4206240"/>
            <a:ext cx="731520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Egypt University of Informatics — C-DE211 Data Analysis — Spring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What We Set Out to Do</a:t>
            </a:r>
            <a:endParaRPr lang="en-US" sz="2400" dirty="0"/>
          </a:p>
        </p:txBody>
      </p:sp>
      <p:sp>
        <p:nvSpPr>
          <p:cNvPr id="4" name="Shape 2"/>
          <p:cNvSpPr/>
          <p:nvPr/>
        </p:nvSpPr>
        <p:spPr>
          <a:xfrm>
            <a:off x="457200" y="822960"/>
            <a:ext cx="8229600" cy="8229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5" name="Shape 3"/>
          <p:cNvSpPr/>
          <p:nvPr/>
        </p:nvSpPr>
        <p:spPr>
          <a:xfrm>
            <a:off x="457200" y="822960"/>
            <a:ext cx="54864" cy="822960"/>
          </a:xfrm>
          <a:prstGeom prst="rect">
            <a:avLst/>
          </a:prstGeom>
          <a:solidFill>
            <a:srgbClr val="0891B2"/>
          </a:solidFill>
          <a:ln/>
        </p:spPr>
      </p:sp>
      <p:sp>
        <p:nvSpPr>
          <p:cNvPr id="6" name="Text 4"/>
          <p:cNvSpPr/>
          <p:nvPr/>
        </p:nvSpPr>
        <p:spPr>
          <a:xfrm>
            <a:off x="685800" y="868680"/>
            <a:ext cx="7772400" cy="73152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Are Egyptian stock prices actually going up, or is it just random noise? And when the pound crashes, does the whole market feel it — or just some sectors?</a:t>
            </a:r>
            <a:endParaRPr lang="en-US" sz="1300" dirty="0"/>
          </a:p>
        </p:txBody>
      </p:sp>
      <p:sp>
        <p:nvSpPr>
          <p:cNvPr id="7" name="Shape 5"/>
          <p:cNvSpPr/>
          <p:nvPr/>
        </p:nvSpPr>
        <p:spPr>
          <a:xfrm>
            <a:off x="457200" y="1920240"/>
            <a:ext cx="256032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8" name="Shape 6"/>
          <p:cNvSpPr/>
          <p:nvPr/>
        </p:nvSpPr>
        <p:spPr>
          <a:xfrm>
            <a:off x="457200" y="1920240"/>
            <a:ext cx="2560320" cy="54864"/>
          </a:xfrm>
          <a:prstGeom prst="rect">
            <a:avLst/>
          </a:prstGeom>
          <a:solidFill>
            <a:srgbClr val="0891B2"/>
          </a:solidFill>
          <a:ln/>
        </p:spPr>
      </p:sp>
      <p:sp>
        <p:nvSpPr>
          <p:cNvPr id="9" name="Text 7"/>
          <p:cNvSpPr/>
          <p:nvPr/>
        </p:nvSpPr>
        <p:spPr>
          <a:xfrm>
            <a:off x="594360" y="2057400"/>
            <a:ext cx="22860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10 Stocks</a:t>
            </a:r>
            <a:endParaRPr lang="en-US" sz="1400" dirty="0"/>
          </a:p>
        </p:txBody>
      </p:sp>
      <p:sp>
        <p:nvSpPr>
          <p:cNvPr id="10" name="Text 8"/>
          <p:cNvSpPr/>
          <p:nvPr/>
        </p:nvSpPr>
        <p:spPr>
          <a:xfrm>
            <a:off x="594360" y="2359152"/>
            <a:ext cx="2286000" cy="7772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COMI, CIEB, CANA, TMGH,</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PHDC, OCDI, ETEL,</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HRHO, CCAP, SWDY</a:t>
            </a:r>
            <a:endParaRPr lang="en-US" sz="1050" dirty="0"/>
          </a:p>
        </p:txBody>
      </p:sp>
      <p:sp>
        <p:nvSpPr>
          <p:cNvPr id="11" name="Shape 9"/>
          <p:cNvSpPr/>
          <p:nvPr/>
        </p:nvSpPr>
        <p:spPr>
          <a:xfrm>
            <a:off x="3291840" y="1920240"/>
            <a:ext cx="256032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2" name="Shape 10"/>
          <p:cNvSpPr/>
          <p:nvPr/>
        </p:nvSpPr>
        <p:spPr>
          <a:xfrm>
            <a:off x="3291840" y="1920240"/>
            <a:ext cx="2560320" cy="54864"/>
          </a:xfrm>
          <a:prstGeom prst="rect">
            <a:avLst/>
          </a:prstGeom>
          <a:solidFill>
            <a:srgbClr val="8B5CF6"/>
          </a:solidFill>
          <a:ln/>
        </p:spPr>
      </p:sp>
      <p:sp>
        <p:nvSpPr>
          <p:cNvPr id="13" name="Text 11"/>
          <p:cNvSpPr/>
          <p:nvPr/>
        </p:nvSpPr>
        <p:spPr>
          <a:xfrm>
            <a:off x="3429000" y="2057400"/>
            <a:ext cx="22860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5 Sectors</a:t>
            </a:r>
            <a:endParaRPr lang="en-US" sz="1400" dirty="0"/>
          </a:p>
        </p:txBody>
      </p:sp>
      <p:sp>
        <p:nvSpPr>
          <p:cNvPr id="14" name="Text 12"/>
          <p:cNvSpPr/>
          <p:nvPr/>
        </p:nvSpPr>
        <p:spPr>
          <a:xfrm>
            <a:off x="3429000" y="2359152"/>
            <a:ext cx="2286000" cy="7772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Banking, Real Estate,</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Telecom, Finance,</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Industry</a:t>
            </a:r>
            <a:endParaRPr lang="en-US" sz="1050" dirty="0"/>
          </a:p>
        </p:txBody>
      </p:sp>
      <p:sp>
        <p:nvSpPr>
          <p:cNvPr id="15" name="Shape 13"/>
          <p:cNvSpPr/>
          <p:nvPr/>
        </p:nvSpPr>
        <p:spPr>
          <a:xfrm>
            <a:off x="6126480" y="1920240"/>
            <a:ext cx="2560320" cy="1280160"/>
          </a:xfrm>
          <a:prstGeom prst="rect">
            <a:avLst/>
          </a:prstGeom>
          <a:solidFill>
            <a:srgbClr val="FFFFFF"/>
          </a:solidFill>
          <a:ln/>
          <a:effectLst>
            <a:outerShdw sx="100000" sy="100000" kx="0" ky="0" algn="bl" rotWithShape="0" blurRad="76200" dist="25400" dir="8100000">
              <a:srgbClr val="000000">
                <a:alpha val="12000"/>
              </a:srgbClr>
            </a:outerShdw>
          </a:effectLst>
        </p:spPr>
      </p:sp>
      <p:sp>
        <p:nvSpPr>
          <p:cNvPr id="16" name="Shape 14"/>
          <p:cNvSpPr/>
          <p:nvPr/>
        </p:nvSpPr>
        <p:spPr>
          <a:xfrm>
            <a:off x="6126480" y="1920240"/>
            <a:ext cx="2560320" cy="54864"/>
          </a:xfrm>
          <a:prstGeom prst="rect">
            <a:avLst/>
          </a:prstGeom>
          <a:solidFill>
            <a:srgbClr val="10B981"/>
          </a:solidFill>
          <a:ln/>
        </p:spPr>
      </p:sp>
      <p:sp>
        <p:nvSpPr>
          <p:cNvPr id="17" name="Text 15"/>
          <p:cNvSpPr/>
          <p:nvPr/>
        </p:nvSpPr>
        <p:spPr>
          <a:xfrm>
            <a:off x="6263640" y="2057400"/>
            <a:ext cx="2286000" cy="274320"/>
          </a:xfrm>
          <a:prstGeom prst="rect">
            <a:avLst/>
          </a:prstGeom>
          <a:noFill/>
          <a:ln/>
        </p:spPr>
        <p:txBody>
          <a:bodyPr wrap="square" lIns="0" tIns="0" rIns="0" bIns="0" rtlCol="0" anchor="ctr"/>
          <a:lstStyle/>
          <a:p>
            <a:pPr indent="0" marL="0">
              <a:buNone/>
            </a:pPr>
            <a:r>
              <a:rPr lang="en-US" sz="1400" b="1" dirty="0">
                <a:solidFill>
                  <a:srgbClr val="1E293B"/>
                </a:solidFill>
                <a:latin typeface="Trebuchet MS" pitchFamily="34" charset="0"/>
                <a:ea typeface="Trebuchet MS" pitchFamily="34" charset="-122"/>
                <a:cs typeface="Trebuchet MS" pitchFamily="34" charset="-120"/>
              </a:rPr>
              <a:t>5 Years of Data</a:t>
            </a:r>
            <a:endParaRPr lang="en-US" sz="1400" dirty="0"/>
          </a:p>
        </p:txBody>
      </p:sp>
      <p:sp>
        <p:nvSpPr>
          <p:cNvPr id="18" name="Text 16"/>
          <p:cNvSpPr/>
          <p:nvPr/>
        </p:nvSpPr>
        <p:spPr>
          <a:xfrm>
            <a:off x="6263640" y="2359152"/>
            <a:ext cx="2286000" cy="77724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Jan 2021 → Feb 2026</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1,234 trading days</a:t>
            </a:r>
            <a:endParaRPr lang="en-US" sz="1050" dirty="0"/>
          </a:p>
          <a:p>
            <a:pPr indent="0" marL="0">
              <a:buNone/>
            </a:pPr>
            <a:r>
              <a:rPr lang="en-US" sz="1050" dirty="0">
                <a:solidFill>
                  <a:srgbClr val="64748B"/>
                </a:solidFill>
                <a:latin typeface="Calibri" pitchFamily="34" charset="0"/>
                <a:ea typeface="Calibri" pitchFamily="34" charset="-122"/>
                <a:cs typeface="Calibri" pitchFamily="34" charset="-120"/>
              </a:rPr>
              <a:t>per stock</a:t>
            </a:r>
            <a:endParaRPr lang="en-US" sz="1050" dirty="0"/>
          </a:p>
        </p:txBody>
      </p:sp>
      <p:sp>
        <p:nvSpPr>
          <p:cNvPr id="19" name="Text 17"/>
          <p:cNvSpPr/>
          <p:nvPr/>
        </p:nvSpPr>
        <p:spPr>
          <a:xfrm>
            <a:off x="457200" y="3474720"/>
            <a:ext cx="274320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Our Pipeline</a:t>
            </a:r>
            <a:endParaRPr lang="en-US" sz="1300" dirty="0"/>
          </a:p>
        </p:txBody>
      </p:sp>
      <p:sp>
        <p:nvSpPr>
          <p:cNvPr id="20" name="Shape 18"/>
          <p:cNvSpPr/>
          <p:nvPr/>
        </p:nvSpPr>
        <p:spPr>
          <a:xfrm>
            <a:off x="365760" y="3794760"/>
            <a:ext cx="1188720" cy="548640"/>
          </a:xfrm>
          <a:prstGeom prst="roundRect">
            <a:avLst>
              <a:gd name="adj" fmla="val 8333"/>
            </a:avLst>
          </a:prstGeom>
          <a:solidFill>
            <a:srgbClr val="0891B2">
              <a:alpha val="10000"/>
            </a:srgbClr>
          </a:solidFill>
          <a:ln/>
        </p:spPr>
      </p:sp>
      <p:sp>
        <p:nvSpPr>
          <p:cNvPr id="21" name="Text 19"/>
          <p:cNvSpPr/>
          <p:nvPr/>
        </p:nvSpPr>
        <p:spPr>
          <a:xfrm>
            <a:off x="365760" y="3822192"/>
            <a:ext cx="118872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Clean Data</a:t>
            </a:r>
            <a:endParaRPr lang="en-US" sz="900" dirty="0"/>
          </a:p>
        </p:txBody>
      </p:sp>
      <p:sp>
        <p:nvSpPr>
          <p:cNvPr id="22" name="Text 20"/>
          <p:cNvSpPr/>
          <p:nvPr/>
        </p:nvSpPr>
        <p:spPr>
          <a:xfrm>
            <a:off x="1508760" y="3858768"/>
            <a:ext cx="274320" cy="365760"/>
          </a:xfrm>
          <a:prstGeom prst="rect">
            <a:avLst/>
          </a:prstGeom>
          <a:noFill/>
          <a:ln/>
        </p:spPr>
        <p:txBody>
          <a:bodyPr wrap="square" lIns="0" tIns="0" rIns="0" bIns="0" rtlCol="0" anchor="ctr"/>
          <a:lstStyle/>
          <a:p>
            <a:pPr algn="ctr" indent="0" marL="0">
              <a:buNone/>
            </a:pPr>
            <a:r>
              <a:rPr lang="en-US" sz="1300" dirty="0">
                <a:solidFill>
                  <a:srgbClr val="0891B2"/>
                </a:solidFill>
              </a:rPr>
              <a:t>→</a:t>
            </a:r>
            <a:endParaRPr lang="en-US" sz="1300" dirty="0"/>
          </a:p>
        </p:txBody>
      </p:sp>
      <p:sp>
        <p:nvSpPr>
          <p:cNvPr id="23" name="Shape 21"/>
          <p:cNvSpPr/>
          <p:nvPr/>
        </p:nvSpPr>
        <p:spPr>
          <a:xfrm>
            <a:off x="1783080" y="3794760"/>
            <a:ext cx="1188720" cy="548640"/>
          </a:xfrm>
          <a:prstGeom prst="roundRect">
            <a:avLst>
              <a:gd name="adj" fmla="val 8333"/>
            </a:avLst>
          </a:prstGeom>
          <a:solidFill>
            <a:srgbClr val="0891B2">
              <a:alpha val="10000"/>
            </a:srgbClr>
          </a:solidFill>
          <a:ln/>
        </p:spPr>
      </p:sp>
      <p:sp>
        <p:nvSpPr>
          <p:cNvPr id="24" name="Text 22"/>
          <p:cNvSpPr/>
          <p:nvPr/>
        </p:nvSpPr>
        <p:spPr>
          <a:xfrm>
            <a:off x="1783080" y="3822192"/>
            <a:ext cx="118872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Explore Trends</a:t>
            </a:r>
            <a:endParaRPr lang="en-US" sz="900" dirty="0"/>
          </a:p>
        </p:txBody>
      </p:sp>
      <p:sp>
        <p:nvSpPr>
          <p:cNvPr id="25" name="Text 23"/>
          <p:cNvSpPr/>
          <p:nvPr/>
        </p:nvSpPr>
        <p:spPr>
          <a:xfrm>
            <a:off x="2926080" y="3858768"/>
            <a:ext cx="274320" cy="365760"/>
          </a:xfrm>
          <a:prstGeom prst="rect">
            <a:avLst/>
          </a:prstGeom>
          <a:noFill/>
          <a:ln/>
        </p:spPr>
        <p:txBody>
          <a:bodyPr wrap="square" lIns="0" tIns="0" rIns="0" bIns="0" rtlCol="0" anchor="ctr"/>
          <a:lstStyle/>
          <a:p>
            <a:pPr algn="ctr" indent="0" marL="0">
              <a:buNone/>
            </a:pPr>
            <a:r>
              <a:rPr lang="en-US" sz="1300" dirty="0">
                <a:solidFill>
                  <a:srgbClr val="0891B2"/>
                </a:solidFill>
              </a:rPr>
              <a:t>→</a:t>
            </a:r>
            <a:endParaRPr lang="en-US" sz="1300" dirty="0"/>
          </a:p>
        </p:txBody>
      </p:sp>
      <p:sp>
        <p:nvSpPr>
          <p:cNvPr id="26" name="Shape 24"/>
          <p:cNvSpPr/>
          <p:nvPr/>
        </p:nvSpPr>
        <p:spPr>
          <a:xfrm>
            <a:off x="3200400" y="3794760"/>
            <a:ext cx="1188720" cy="548640"/>
          </a:xfrm>
          <a:prstGeom prst="roundRect">
            <a:avLst>
              <a:gd name="adj" fmla="val 8333"/>
            </a:avLst>
          </a:prstGeom>
          <a:solidFill>
            <a:srgbClr val="0891B2">
              <a:alpha val="10000"/>
            </a:srgbClr>
          </a:solidFill>
          <a:ln/>
        </p:spPr>
      </p:sp>
      <p:sp>
        <p:nvSpPr>
          <p:cNvPr id="27" name="Text 25"/>
          <p:cNvSpPr/>
          <p:nvPr/>
        </p:nvSpPr>
        <p:spPr>
          <a:xfrm>
            <a:off x="3200400" y="3822192"/>
            <a:ext cx="118872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Correlations</a:t>
            </a:r>
            <a:endParaRPr lang="en-US" sz="900" dirty="0"/>
          </a:p>
        </p:txBody>
      </p:sp>
      <p:sp>
        <p:nvSpPr>
          <p:cNvPr id="28" name="Text 26"/>
          <p:cNvSpPr/>
          <p:nvPr/>
        </p:nvSpPr>
        <p:spPr>
          <a:xfrm>
            <a:off x="4343400" y="3858768"/>
            <a:ext cx="274320" cy="365760"/>
          </a:xfrm>
          <a:prstGeom prst="rect">
            <a:avLst/>
          </a:prstGeom>
          <a:noFill/>
          <a:ln/>
        </p:spPr>
        <p:txBody>
          <a:bodyPr wrap="square" lIns="0" tIns="0" rIns="0" bIns="0" rtlCol="0" anchor="ctr"/>
          <a:lstStyle/>
          <a:p>
            <a:pPr algn="ctr" indent="0" marL="0">
              <a:buNone/>
            </a:pPr>
            <a:r>
              <a:rPr lang="en-US" sz="1300" dirty="0">
                <a:solidFill>
                  <a:srgbClr val="0891B2"/>
                </a:solidFill>
              </a:rPr>
              <a:t>→</a:t>
            </a:r>
            <a:endParaRPr lang="en-US" sz="1300" dirty="0"/>
          </a:p>
        </p:txBody>
      </p:sp>
      <p:sp>
        <p:nvSpPr>
          <p:cNvPr id="29" name="Shape 27"/>
          <p:cNvSpPr/>
          <p:nvPr/>
        </p:nvSpPr>
        <p:spPr>
          <a:xfrm>
            <a:off x="4617720" y="3794760"/>
            <a:ext cx="1188720" cy="548640"/>
          </a:xfrm>
          <a:prstGeom prst="roundRect">
            <a:avLst>
              <a:gd name="adj" fmla="val 8333"/>
            </a:avLst>
          </a:prstGeom>
          <a:solidFill>
            <a:srgbClr val="0891B2">
              <a:alpha val="10000"/>
            </a:srgbClr>
          </a:solidFill>
          <a:ln/>
        </p:spPr>
      </p:sp>
      <p:sp>
        <p:nvSpPr>
          <p:cNvPr id="30" name="Text 28"/>
          <p:cNvSpPr/>
          <p:nvPr/>
        </p:nvSpPr>
        <p:spPr>
          <a:xfrm>
            <a:off x="4617720" y="3822192"/>
            <a:ext cx="118872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Hypothesis</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Testing</a:t>
            </a:r>
            <a:endParaRPr lang="en-US" sz="900" dirty="0"/>
          </a:p>
        </p:txBody>
      </p:sp>
      <p:sp>
        <p:nvSpPr>
          <p:cNvPr id="31" name="Text 29"/>
          <p:cNvSpPr/>
          <p:nvPr/>
        </p:nvSpPr>
        <p:spPr>
          <a:xfrm>
            <a:off x="5760720" y="3858768"/>
            <a:ext cx="274320" cy="365760"/>
          </a:xfrm>
          <a:prstGeom prst="rect">
            <a:avLst/>
          </a:prstGeom>
          <a:noFill/>
          <a:ln/>
        </p:spPr>
        <p:txBody>
          <a:bodyPr wrap="square" lIns="0" tIns="0" rIns="0" bIns="0" rtlCol="0" anchor="ctr"/>
          <a:lstStyle/>
          <a:p>
            <a:pPr algn="ctr" indent="0" marL="0">
              <a:buNone/>
            </a:pPr>
            <a:r>
              <a:rPr lang="en-US" sz="1300" dirty="0">
                <a:solidFill>
                  <a:srgbClr val="0891B2"/>
                </a:solidFill>
              </a:rPr>
              <a:t>→</a:t>
            </a:r>
            <a:endParaRPr lang="en-US" sz="1300" dirty="0"/>
          </a:p>
        </p:txBody>
      </p:sp>
      <p:sp>
        <p:nvSpPr>
          <p:cNvPr id="32" name="Shape 30"/>
          <p:cNvSpPr/>
          <p:nvPr/>
        </p:nvSpPr>
        <p:spPr>
          <a:xfrm>
            <a:off x="6035040" y="3794760"/>
            <a:ext cx="1188720" cy="548640"/>
          </a:xfrm>
          <a:prstGeom prst="roundRect">
            <a:avLst>
              <a:gd name="adj" fmla="val 8333"/>
            </a:avLst>
          </a:prstGeom>
          <a:solidFill>
            <a:srgbClr val="0891B2">
              <a:alpha val="10000"/>
            </a:srgbClr>
          </a:solidFill>
          <a:ln/>
        </p:spPr>
      </p:sp>
      <p:sp>
        <p:nvSpPr>
          <p:cNvPr id="33" name="Text 31"/>
          <p:cNvSpPr/>
          <p:nvPr/>
        </p:nvSpPr>
        <p:spPr>
          <a:xfrm>
            <a:off x="6035040" y="3822192"/>
            <a:ext cx="118872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Devaluation</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Study</a:t>
            </a:r>
            <a:endParaRPr lang="en-US" sz="900" dirty="0"/>
          </a:p>
        </p:txBody>
      </p:sp>
      <p:sp>
        <p:nvSpPr>
          <p:cNvPr id="34" name="Text 32"/>
          <p:cNvSpPr/>
          <p:nvPr/>
        </p:nvSpPr>
        <p:spPr>
          <a:xfrm>
            <a:off x="7178040" y="3858768"/>
            <a:ext cx="274320" cy="365760"/>
          </a:xfrm>
          <a:prstGeom prst="rect">
            <a:avLst/>
          </a:prstGeom>
          <a:noFill/>
          <a:ln/>
        </p:spPr>
        <p:txBody>
          <a:bodyPr wrap="square" lIns="0" tIns="0" rIns="0" bIns="0" rtlCol="0" anchor="ctr"/>
          <a:lstStyle/>
          <a:p>
            <a:pPr algn="ctr" indent="0" marL="0">
              <a:buNone/>
            </a:pPr>
            <a:r>
              <a:rPr lang="en-US" sz="1300" dirty="0">
                <a:solidFill>
                  <a:srgbClr val="0891B2"/>
                </a:solidFill>
              </a:rPr>
              <a:t>→</a:t>
            </a:r>
            <a:endParaRPr lang="en-US" sz="1300" dirty="0"/>
          </a:p>
        </p:txBody>
      </p:sp>
      <p:sp>
        <p:nvSpPr>
          <p:cNvPr id="35" name="Shape 33"/>
          <p:cNvSpPr/>
          <p:nvPr/>
        </p:nvSpPr>
        <p:spPr>
          <a:xfrm>
            <a:off x="7452360" y="3794760"/>
            <a:ext cx="1188720" cy="548640"/>
          </a:xfrm>
          <a:prstGeom prst="roundRect">
            <a:avLst>
              <a:gd name="adj" fmla="val 8333"/>
            </a:avLst>
          </a:prstGeom>
          <a:solidFill>
            <a:srgbClr val="0891B2">
              <a:alpha val="10000"/>
            </a:srgbClr>
          </a:solidFill>
          <a:ln/>
        </p:spPr>
      </p:sp>
      <p:sp>
        <p:nvSpPr>
          <p:cNvPr id="36" name="Text 34"/>
          <p:cNvSpPr/>
          <p:nvPr/>
        </p:nvSpPr>
        <p:spPr>
          <a:xfrm>
            <a:off x="7452360" y="3822192"/>
            <a:ext cx="1188720" cy="502920"/>
          </a:xfrm>
          <a:prstGeom prst="rect">
            <a:avLst/>
          </a:prstGeom>
          <a:noFill/>
          <a:ln/>
        </p:spPr>
        <p:txBody>
          <a:bodyPr wrap="square" lIns="0" tIns="0" rIns="0" bIns="0" rtlCol="0" anchor="ctr"/>
          <a:lstStyle/>
          <a:p>
            <a:pPr algn="ctr" indent="0" marL="0">
              <a:buNone/>
            </a:pPr>
            <a:r>
              <a:rPr lang="en-US" sz="900" dirty="0">
                <a:solidFill>
                  <a:srgbClr val="1E293B"/>
                </a:solidFill>
                <a:latin typeface="Calibri" pitchFamily="34" charset="0"/>
                <a:ea typeface="Calibri" pitchFamily="34" charset="-122"/>
                <a:cs typeface="Calibri" pitchFamily="34" charset="-120"/>
              </a:rPr>
              <a:t>Prediction</a:t>
            </a:r>
            <a:endParaRPr lang="en-US" sz="900" dirty="0"/>
          </a:p>
          <a:p>
            <a:pPr algn="ctr" indent="0" marL="0">
              <a:buNone/>
            </a:pPr>
            <a:r>
              <a:rPr lang="en-US" sz="900" dirty="0">
                <a:solidFill>
                  <a:srgbClr val="1E293B"/>
                </a:solidFill>
                <a:latin typeface="Calibri" pitchFamily="34" charset="0"/>
                <a:ea typeface="Calibri" pitchFamily="34" charset="-122"/>
                <a:cs typeface="Calibri" pitchFamily="34" charset="-120"/>
              </a:rPr>
              <a:t>Model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Price Trends &amp; Trading Volume</a:t>
            </a:r>
            <a:endParaRPr lang="en-US" sz="2400" dirty="0"/>
          </a:p>
        </p:txBody>
      </p:sp>
      <p:pic>
        <p:nvPicPr>
          <p:cNvPr id="4" name="Image 0" descr="preencoded.png">    </p:cNvPr>
          <p:cNvPicPr>
            <a:picLocks noChangeAspect="1"/>
          </p:cNvPicPr>
          <p:nvPr/>
        </p:nvPicPr>
        <p:blipFill>
          <a:blip r:embed="rId1"/>
          <a:stretch>
            <a:fillRect/>
          </a:stretch>
        </p:blipFill>
        <p:spPr>
          <a:xfrm>
            <a:off x="182880" y="731520"/>
            <a:ext cx="4389120" cy="2011680"/>
          </a:xfrm>
          <a:prstGeom prst="rect">
            <a:avLst/>
          </a:prstGeom>
        </p:spPr>
      </p:pic>
      <p:pic>
        <p:nvPicPr>
          <p:cNvPr id="5" name="Image 1" descr="preencoded.png">    </p:cNvPr>
          <p:cNvPicPr>
            <a:picLocks noChangeAspect="1"/>
          </p:cNvPicPr>
          <p:nvPr/>
        </p:nvPicPr>
        <p:blipFill>
          <a:blip r:embed="rId2"/>
          <a:stretch>
            <a:fillRect/>
          </a:stretch>
        </p:blipFill>
        <p:spPr>
          <a:xfrm>
            <a:off x="4663440" y="731520"/>
            <a:ext cx="4389120" cy="2011680"/>
          </a:xfrm>
          <a:prstGeom prst="rect">
            <a:avLst/>
          </a:prstGeom>
        </p:spPr>
      </p:pic>
      <p:sp>
        <p:nvSpPr>
          <p:cNvPr id="6" name="Shape 2"/>
          <p:cNvSpPr/>
          <p:nvPr/>
        </p:nvSpPr>
        <p:spPr>
          <a:xfrm>
            <a:off x="365760" y="2926080"/>
            <a:ext cx="8412480" cy="1920240"/>
          </a:xfrm>
          <a:prstGeom prst="rect">
            <a:avLst/>
          </a:prstGeom>
          <a:solidFill>
            <a:srgbClr val="F0F9FF"/>
          </a:solidFill>
          <a:ln/>
        </p:spPr>
      </p:sp>
      <p:sp>
        <p:nvSpPr>
          <p:cNvPr id="7" name="Shape 3"/>
          <p:cNvSpPr/>
          <p:nvPr/>
        </p:nvSpPr>
        <p:spPr>
          <a:xfrm>
            <a:off x="365760" y="2926080"/>
            <a:ext cx="54864" cy="1920240"/>
          </a:xfrm>
          <a:prstGeom prst="rect">
            <a:avLst/>
          </a:prstGeom>
          <a:solidFill>
            <a:srgbClr val="F59E0B"/>
          </a:solidFill>
          <a:ln/>
        </p:spPr>
      </p:sp>
      <p:sp>
        <p:nvSpPr>
          <p:cNvPr id="8" name="Text 4"/>
          <p:cNvSpPr/>
          <p:nvPr/>
        </p:nvSpPr>
        <p:spPr>
          <a:xfrm>
            <a:off x="594360" y="2971800"/>
            <a:ext cx="8046720" cy="274320"/>
          </a:xfrm>
          <a:prstGeom prst="rect">
            <a:avLst/>
          </a:prstGeom>
          <a:noFill/>
          <a:ln/>
        </p:spPr>
        <p:txBody>
          <a:bodyPr wrap="square" lIns="0" tIns="0" rIns="0" bIns="0" rtlCol="0" anchor="ctr"/>
          <a:lstStyle/>
          <a:p>
            <a:pPr indent="0" marL="0">
              <a:buNone/>
            </a:pPr>
            <a:r>
              <a:rPr lang="en-US" sz="1200" b="1" dirty="0">
                <a:solidFill>
                  <a:srgbClr val="1E293B"/>
                </a:solidFill>
                <a:latin typeface="Trebuchet MS" pitchFamily="34" charset="0"/>
                <a:ea typeface="Trebuchet MS" pitchFamily="34" charset="-122"/>
                <a:cs typeface="Trebuchet MS" pitchFamily="34" charset="-120"/>
              </a:rPr>
              <a:t>What we see:</a:t>
            </a:r>
            <a:endParaRPr lang="en-US" sz="1200" dirty="0"/>
          </a:p>
        </p:txBody>
      </p:sp>
      <p:sp>
        <p:nvSpPr>
          <p:cNvPr id="9" name="Text 5"/>
          <p:cNvSpPr/>
          <p:nvPr/>
        </p:nvSpPr>
        <p:spPr>
          <a:xfrm>
            <a:off x="594360" y="3246120"/>
            <a:ext cx="8046720" cy="155448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All five stocks went up over 5 years. TMGH and SWDY had the biggest jumps, but they also had the wildest swings. COMI was the steadiest performer — classic bank stock behavior.</a:t>
            </a:r>
            <a:endParaRPr lang="en-US" sz="1100" dirty="0"/>
          </a:p>
          <a:p>
            <a:pPr indent="0" marL="0">
              <a:buNone/>
            </a:pP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PHDC dominates trading volume — it's by far the most actively bought and sold stock. Volume spikes happen across all stocks at the same time, which tells us the market reacts to big news as one unit, not stock by stock.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Risk vs Return — Who Rewards You Most?</a:t>
            </a:r>
            <a:endParaRPr lang="en-US" sz="2400" dirty="0"/>
          </a:p>
        </p:txBody>
      </p:sp>
      <p:pic>
        <p:nvPicPr>
          <p:cNvPr id="4" name="Image 0" descr="preencoded.png">    </p:cNvPr>
          <p:cNvPicPr>
            <a:picLocks noChangeAspect="1"/>
          </p:cNvPicPr>
          <p:nvPr/>
        </p:nvPicPr>
        <p:blipFill>
          <a:blip r:embed="rId1"/>
          <a:stretch>
            <a:fillRect/>
          </a:stretch>
        </p:blipFill>
        <p:spPr>
          <a:xfrm>
            <a:off x="274320" y="731520"/>
            <a:ext cx="5029200" cy="2743200"/>
          </a:xfrm>
          <a:prstGeom prst="rect">
            <a:avLst/>
          </a:prstGeom>
        </p:spPr>
      </p:pic>
      <p:sp>
        <p:nvSpPr>
          <p:cNvPr id="5" name="Shape 2"/>
          <p:cNvSpPr/>
          <p:nvPr/>
        </p:nvSpPr>
        <p:spPr>
          <a:xfrm>
            <a:off x="5577840" y="731520"/>
            <a:ext cx="3291840" cy="2743200"/>
          </a:xfrm>
          <a:prstGeom prst="rect">
            <a:avLst/>
          </a:prstGeom>
          <a:solidFill>
            <a:srgbClr val="F0F9FF"/>
          </a:solidFill>
          <a:ln/>
          <a:effectLst>
            <a:outerShdw sx="100000" sy="100000" kx="0" ky="0" algn="bl" rotWithShape="0" blurRad="76200" dist="25400" dir="8100000">
              <a:srgbClr val="000000">
                <a:alpha val="12000"/>
              </a:srgbClr>
            </a:outerShdw>
          </a:effectLst>
        </p:spPr>
      </p:sp>
      <p:sp>
        <p:nvSpPr>
          <p:cNvPr id="6" name="Text 3"/>
          <p:cNvSpPr/>
          <p:nvPr/>
        </p:nvSpPr>
        <p:spPr>
          <a:xfrm>
            <a:off x="5715000" y="822960"/>
            <a:ext cx="301752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Reading the Chart</a:t>
            </a:r>
            <a:endParaRPr lang="en-US" sz="1300" dirty="0"/>
          </a:p>
        </p:txBody>
      </p:sp>
      <p:sp>
        <p:nvSpPr>
          <p:cNvPr id="7" name="Text 4"/>
          <p:cNvSpPr/>
          <p:nvPr/>
        </p:nvSpPr>
        <p:spPr>
          <a:xfrm>
            <a:off x="5715000" y="1188720"/>
            <a:ext cx="3017520" cy="2194560"/>
          </a:xfrm>
          <a:prstGeom prst="rect">
            <a:avLst/>
          </a:prstGeom>
          <a:noFill/>
          <a:ln/>
        </p:spPr>
        <p:txBody>
          <a:bodyPr wrap="square" lIns="0" tIns="0" rIns="0" bIns="0" rtlCol="0" anchor="ctr"/>
          <a:lstStyle/>
          <a:p>
            <a:pPr marL="342900" indent="-342900">
              <a:spcAft>
                <a:spcPts val="800"/>
              </a:spcAft>
              <a:buSzPct val="100000"/>
              <a:buChar char="•"/>
            </a:pPr>
            <a:r>
              <a:rPr lang="en-US" sz="1000" dirty="0">
                <a:solidFill>
                  <a:srgbClr val="1E293B"/>
                </a:solidFill>
                <a:latin typeface="Calibri" pitchFamily="34" charset="0"/>
                <a:ea typeface="Calibri" pitchFamily="34" charset="-122"/>
                <a:cs typeface="Calibri" pitchFamily="34" charset="-120"/>
              </a:rPr>
              <a:t>Top-right = high reward, high risk (SWDY, TMGH)</a:t>
            </a:r>
            <a:endParaRPr lang="en-US" sz="1000" dirty="0"/>
          </a:p>
          <a:p>
            <a:pPr marL="342900" indent="-342900">
              <a:spcAft>
                <a:spcPts val="800"/>
              </a:spcAft>
              <a:buSzPct val="100000"/>
              <a:buChar char="•"/>
            </a:pPr>
            <a:r>
              <a:rPr lang="en-US" sz="1000" dirty="0">
                <a:solidFill>
                  <a:srgbClr val="1E293B"/>
                </a:solidFill>
                <a:latin typeface="Calibri" pitchFamily="34" charset="0"/>
                <a:ea typeface="Calibri" pitchFamily="34" charset="-122"/>
                <a:cs typeface="Calibri" pitchFamily="34" charset="-120"/>
              </a:rPr>
              <a:t>Bottom-left = safer but lower returns (COMI, CIEB)</a:t>
            </a:r>
            <a:endParaRPr lang="en-US" sz="1000" dirty="0"/>
          </a:p>
          <a:p>
            <a:pPr marL="342900" indent="-342900">
              <a:spcAft>
                <a:spcPts val="800"/>
              </a:spcAft>
              <a:buSzPct val="100000"/>
              <a:buChar char="•"/>
            </a:pPr>
            <a:r>
              <a:rPr lang="en-US" sz="1000" dirty="0">
                <a:solidFill>
                  <a:srgbClr val="1E293B"/>
                </a:solidFill>
                <a:latin typeface="Calibri" pitchFamily="34" charset="0"/>
                <a:ea typeface="Calibri" pitchFamily="34" charset="-122"/>
                <a:cs typeface="Calibri" pitchFamily="34" charset="-120"/>
              </a:rPr>
              <a:t>OCDI sits near zero — barely grew at all</a:t>
            </a:r>
            <a:endParaRPr lang="en-US" sz="1000" dirty="0"/>
          </a:p>
          <a:p>
            <a:pPr marL="342900" indent="-342900">
              <a:spcAft>
                <a:spcPts val="800"/>
              </a:spcAft>
              <a:buSzPct val="100000"/>
              <a:buChar char="•"/>
            </a:pPr>
            <a:r>
              <a:rPr lang="en-US" sz="1000" dirty="0">
                <a:solidFill>
                  <a:srgbClr val="1E293B"/>
                </a:solidFill>
                <a:latin typeface="Calibri" pitchFamily="34" charset="0"/>
                <a:ea typeface="Calibri" pitchFamily="34" charset="-122"/>
                <a:cs typeface="Calibri" pitchFamily="34" charset="-120"/>
              </a:rPr>
              <a:t>No stock gives high reward with low risk — there's always a tradeoff</a:t>
            </a:r>
            <a:endParaRPr lang="en-US" sz="1000" dirty="0"/>
          </a:p>
        </p:txBody>
      </p:sp>
      <p:sp>
        <p:nvSpPr>
          <p:cNvPr id="8" name="Shape 5"/>
          <p:cNvSpPr/>
          <p:nvPr/>
        </p:nvSpPr>
        <p:spPr>
          <a:xfrm>
            <a:off x="365760" y="3749040"/>
            <a:ext cx="8412480" cy="1097280"/>
          </a:xfrm>
          <a:prstGeom prst="rect">
            <a:avLst/>
          </a:prstGeom>
          <a:solidFill>
            <a:srgbClr val="F0F9FF"/>
          </a:solidFill>
          <a:ln/>
        </p:spPr>
      </p:sp>
      <p:sp>
        <p:nvSpPr>
          <p:cNvPr id="9" name="Shape 6"/>
          <p:cNvSpPr/>
          <p:nvPr/>
        </p:nvSpPr>
        <p:spPr>
          <a:xfrm>
            <a:off x="365760" y="3749040"/>
            <a:ext cx="54864" cy="1097280"/>
          </a:xfrm>
          <a:prstGeom prst="rect">
            <a:avLst/>
          </a:prstGeom>
          <a:solidFill>
            <a:srgbClr val="F59E0B"/>
          </a:solidFill>
          <a:ln/>
        </p:spPr>
      </p:sp>
      <p:sp>
        <p:nvSpPr>
          <p:cNvPr id="10" name="Text 7"/>
          <p:cNvSpPr/>
          <p:nvPr/>
        </p:nvSpPr>
        <p:spPr>
          <a:xfrm>
            <a:off x="594360" y="3794760"/>
            <a:ext cx="8046720" cy="10058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The numbers back this up: all 10 stocks have kurtosis above 3, meaning extreme days (big jumps or crashes) happen way more often than you'd expect. That's typical for emerging markets like Egypt — the ride is bumpier than average.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How Stocks Relate to Each Other</a:t>
            </a:r>
            <a:endParaRPr lang="en-US" sz="2400" dirty="0"/>
          </a:p>
        </p:txBody>
      </p:sp>
      <p:pic>
        <p:nvPicPr>
          <p:cNvPr id="4" name="Image 0" descr="preencoded.png">    </p:cNvPr>
          <p:cNvPicPr>
            <a:picLocks noChangeAspect="1"/>
          </p:cNvPicPr>
          <p:nvPr/>
        </p:nvPicPr>
        <p:blipFill>
          <a:blip r:embed="rId1"/>
          <a:stretch>
            <a:fillRect/>
          </a:stretch>
        </p:blipFill>
        <p:spPr>
          <a:xfrm>
            <a:off x="182880" y="685800"/>
            <a:ext cx="4572000" cy="3474720"/>
          </a:xfrm>
          <a:prstGeom prst="rect">
            <a:avLst/>
          </a:prstGeom>
        </p:spPr>
      </p:pic>
      <p:sp>
        <p:nvSpPr>
          <p:cNvPr id="5" name="Shape 2"/>
          <p:cNvSpPr/>
          <p:nvPr/>
        </p:nvSpPr>
        <p:spPr>
          <a:xfrm>
            <a:off x="5029200" y="731520"/>
            <a:ext cx="3840480" cy="3383280"/>
          </a:xfrm>
          <a:prstGeom prst="rect">
            <a:avLst/>
          </a:prstGeom>
          <a:solidFill>
            <a:srgbClr val="F0F9FF"/>
          </a:solidFill>
          <a:ln/>
          <a:effectLst>
            <a:outerShdw sx="100000" sy="100000" kx="0" ky="0" algn="bl" rotWithShape="0" blurRad="76200" dist="25400" dir="8100000">
              <a:srgbClr val="000000">
                <a:alpha val="12000"/>
              </a:srgbClr>
            </a:outerShdw>
          </a:effectLst>
        </p:spPr>
      </p:sp>
      <p:sp>
        <p:nvSpPr>
          <p:cNvPr id="6" name="Text 3"/>
          <p:cNvSpPr/>
          <p:nvPr/>
        </p:nvSpPr>
        <p:spPr>
          <a:xfrm>
            <a:off x="5166360" y="822960"/>
            <a:ext cx="356616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What the Heatmap Tells Us</a:t>
            </a:r>
            <a:endParaRPr lang="en-US" sz="1300" dirty="0"/>
          </a:p>
        </p:txBody>
      </p:sp>
      <p:sp>
        <p:nvSpPr>
          <p:cNvPr id="7" name="Text 4"/>
          <p:cNvSpPr/>
          <p:nvPr/>
        </p:nvSpPr>
        <p:spPr>
          <a:xfrm>
            <a:off x="5166360" y="1188720"/>
            <a:ext cx="3566160" cy="2743200"/>
          </a:xfrm>
          <a:prstGeom prst="rect">
            <a:avLst/>
          </a:prstGeom>
          <a:noFill/>
          <a:ln/>
        </p:spPr>
        <p:txBody>
          <a:bodyPr wrap="square" lIns="0" tIns="0" rIns="0" bIns="0" rtlCol="0" anchor="ctr"/>
          <a:lstStyle/>
          <a:p>
            <a:pPr marL="342900" indent="-342900">
              <a:spcAft>
                <a:spcPts val="1000"/>
              </a:spcAft>
              <a:buSzPct val="100000"/>
              <a:buChar char="•"/>
            </a:pPr>
            <a:r>
              <a:rPr lang="en-US" sz="1000" dirty="0">
                <a:solidFill>
                  <a:srgbClr val="1E293B"/>
                </a:solidFill>
                <a:latin typeface="Calibri" pitchFamily="34" charset="0"/>
                <a:ea typeface="Calibri" pitchFamily="34" charset="-122"/>
                <a:cs typeface="Calibri" pitchFamily="34" charset="-120"/>
              </a:rPr>
              <a:t>Same-sector stocks correlate more — TMGH &amp; PHDC (real estate) hit 0.43, HRHO &amp; CCAP (finance) hit 0.41</a:t>
            </a:r>
            <a:endParaRPr lang="en-US" sz="1000" dirty="0"/>
          </a:p>
          <a:p>
            <a:pPr marL="342900" indent="-342900">
              <a:spcAft>
                <a:spcPts val="1000"/>
              </a:spcAft>
              <a:buSzPct val="100000"/>
              <a:buChar char="•"/>
            </a:pPr>
            <a:r>
              <a:rPr lang="en-US" sz="1000" dirty="0">
                <a:solidFill>
                  <a:srgbClr val="1E293B"/>
                </a:solidFill>
                <a:latin typeface="Calibri" pitchFamily="34" charset="0"/>
                <a:ea typeface="Calibri" pitchFamily="34" charset="-122"/>
                <a:cs typeface="Calibri" pitchFamily="34" charset="-120"/>
              </a:rPr>
              <a:t>But even the strongest pair is only moderate — no two stocks move in perfect sync</a:t>
            </a:r>
            <a:endParaRPr lang="en-US" sz="1000" dirty="0"/>
          </a:p>
          <a:p>
            <a:pPr marL="342900" indent="-342900">
              <a:spcAft>
                <a:spcPts val="1000"/>
              </a:spcAft>
              <a:buSzPct val="100000"/>
              <a:buChar char="•"/>
            </a:pPr>
            <a:r>
              <a:rPr lang="en-US" sz="1000" dirty="0">
                <a:solidFill>
                  <a:srgbClr val="1E293B"/>
                </a:solidFill>
                <a:latin typeface="Calibri" pitchFamily="34" charset="0"/>
                <a:ea typeface="Calibri" pitchFamily="34" charset="-122"/>
                <a:cs typeface="Calibri" pitchFamily="34" charset="-120"/>
              </a:rPr>
              <a:t>CANA is the loner — barely correlates with anything else (0.08–0.23)</a:t>
            </a:r>
            <a:endParaRPr lang="en-US" sz="1000" dirty="0"/>
          </a:p>
          <a:p>
            <a:pPr marL="342900" indent="-342900">
              <a:spcAft>
                <a:spcPts val="1000"/>
              </a:spcAft>
              <a:buSzPct val="100000"/>
              <a:buChar char="•"/>
            </a:pPr>
            <a:r>
              <a:rPr lang="en-US" sz="1000" dirty="0">
                <a:solidFill>
                  <a:srgbClr val="1E293B"/>
                </a:solidFill>
                <a:latin typeface="Calibri" pitchFamily="34" charset="0"/>
                <a:ea typeface="Calibri" pitchFamily="34" charset="-122"/>
                <a:cs typeface="Calibri" pitchFamily="34" charset="-120"/>
              </a:rPr>
              <a:t>The overall pattern: stocks tend to drift in the same general direction, but each one has its own daily rhythm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Is the Growth Real? (Hypothesis Testing)</a:t>
            </a:r>
            <a:endParaRPr lang="en-US" sz="2400" dirty="0"/>
          </a:p>
        </p:txBody>
      </p:sp>
      <p:sp>
        <p:nvSpPr>
          <p:cNvPr id="4" name="Shape 2"/>
          <p:cNvSpPr/>
          <p:nvPr/>
        </p:nvSpPr>
        <p:spPr>
          <a:xfrm>
            <a:off x="365760" y="731520"/>
            <a:ext cx="8412480" cy="502920"/>
          </a:xfrm>
          <a:prstGeom prst="rect">
            <a:avLst/>
          </a:prstGeom>
          <a:solidFill>
            <a:srgbClr val="F0F9FF"/>
          </a:solidFill>
          <a:ln/>
        </p:spPr>
      </p:sp>
      <p:sp>
        <p:nvSpPr>
          <p:cNvPr id="5" name="Shape 3"/>
          <p:cNvSpPr/>
          <p:nvPr/>
        </p:nvSpPr>
        <p:spPr>
          <a:xfrm>
            <a:off x="365760" y="731520"/>
            <a:ext cx="54864" cy="502920"/>
          </a:xfrm>
          <a:prstGeom prst="rect">
            <a:avLst/>
          </a:prstGeom>
          <a:solidFill>
            <a:srgbClr val="0891B2"/>
          </a:solidFill>
          <a:ln/>
        </p:spPr>
      </p:sp>
      <p:sp>
        <p:nvSpPr>
          <p:cNvPr id="6" name="Text 4"/>
          <p:cNvSpPr/>
          <p:nvPr/>
        </p:nvSpPr>
        <p:spPr>
          <a:xfrm>
            <a:off x="594360" y="749808"/>
            <a:ext cx="8046720" cy="45720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We asked: if a stock's average daily change is basically zero, then it's just random noise. If it's significantly above zero, the growth is real.</a:t>
            </a:r>
            <a:endParaRPr lang="en-US" sz="1100" dirty="0"/>
          </a:p>
        </p:txBody>
      </p:sp>
      <p:sp>
        <p:nvSpPr>
          <p:cNvPr id="7" name="Shape 5"/>
          <p:cNvSpPr/>
          <p:nvPr/>
        </p:nvSpPr>
        <p:spPr>
          <a:xfrm>
            <a:off x="365760" y="1417320"/>
            <a:ext cx="4114800" cy="3108960"/>
          </a:xfrm>
          <a:prstGeom prst="rect">
            <a:avLst/>
          </a:prstGeom>
          <a:solidFill>
            <a:srgbClr val="F0F9FF"/>
          </a:solidFill>
          <a:ln/>
          <a:effectLst>
            <a:outerShdw sx="100000" sy="100000" kx="0" ky="0" algn="bl" rotWithShape="0" blurRad="76200" dist="25400" dir="8100000">
              <a:srgbClr val="000000">
                <a:alpha val="12000"/>
              </a:srgbClr>
            </a:outerShdw>
          </a:effectLst>
        </p:spPr>
      </p:sp>
      <p:sp>
        <p:nvSpPr>
          <p:cNvPr id="8" name="Shape 6"/>
          <p:cNvSpPr/>
          <p:nvPr/>
        </p:nvSpPr>
        <p:spPr>
          <a:xfrm>
            <a:off x="365760" y="1417320"/>
            <a:ext cx="4114800" cy="54864"/>
          </a:xfrm>
          <a:prstGeom prst="rect">
            <a:avLst/>
          </a:prstGeom>
          <a:solidFill>
            <a:srgbClr val="10B981"/>
          </a:solidFill>
          <a:ln/>
        </p:spPr>
      </p:sp>
      <p:sp>
        <p:nvSpPr>
          <p:cNvPr id="9" name="Text 7"/>
          <p:cNvSpPr/>
          <p:nvPr/>
        </p:nvSpPr>
        <p:spPr>
          <a:xfrm>
            <a:off x="502920" y="1508760"/>
            <a:ext cx="384048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Test 1: Is each stock trending up?</a:t>
            </a:r>
            <a:endParaRPr lang="en-US" sz="1300" dirty="0"/>
          </a:p>
        </p:txBody>
      </p:sp>
      <p:sp>
        <p:nvSpPr>
          <p:cNvPr id="10" name="Text 8"/>
          <p:cNvSpPr/>
          <p:nvPr/>
        </p:nvSpPr>
        <p:spPr>
          <a:xfrm>
            <a:off x="502920" y="1783080"/>
            <a:ext cx="384048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1-Sample T-Test — p &lt; 0.05 means real trend</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2057400"/>
          <a:ext cx="3840480" cy="914400"/>
        </p:xfrm>
        <a:graphic>
          <a:graphicData uri="http://schemas.openxmlformats.org/drawingml/2006/table">
            <a:tbl>
              <a:tblPr/>
              <a:tblGrid>
                <a:gridCol w="1280160"/>
                <a:gridCol w="1280160"/>
                <a:gridCol w="1280160"/>
              </a:tblGrid>
              <a:tr h="22860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Stock</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p-value</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Verdict</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20116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PHDC</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0.009</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59669"/>
                          </a:solidFill>
                          <a:latin typeface="Calibri" pitchFamily="34" charset="0"/>
                          <a:ea typeface="Calibri" pitchFamily="34" charset="-122"/>
                          <a:cs typeface="Calibri" pitchFamily="34" charset="-120"/>
                        </a:rPr>
                        <a:t>Real ✓</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HRHO</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0.040</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59669"/>
                          </a:solidFill>
                          <a:latin typeface="Calibri" pitchFamily="34" charset="0"/>
                          <a:ea typeface="Calibri" pitchFamily="34" charset="-122"/>
                          <a:cs typeface="Calibri" pitchFamily="34" charset="-120"/>
                        </a:rPr>
                        <a:t>Real ✓</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COMI</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0.007</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59669"/>
                          </a:solidFill>
                          <a:latin typeface="Calibri" pitchFamily="34" charset="0"/>
                          <a:ea typeface="Calibri" pitchFamily="34" charset="-122"/>
                          <a:cs typeface="Calibri" pitchFamily="34" charset="-120"/>
                        </a:rPr>
                        <a:t>Real ✓</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TMGH</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0.001</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59669"/>
                          </a:solidFill>
                          <a:latin typeface="Calibri" pitchFamily="34" charset="0"/>
                          <a:ea typeface="Calibri" pitchFamily="34" charset="-122"/>
                          <a:cs typeface="Calibri" pitchFamily="34" charset="-120"/>
                        </a:rPr>
                        <a:t>Real ✓</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201168">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SWDY</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1E293B"/>
                          </a:solidFill>
                          <a:latin typeface="Calibri" pitchFamily="34" charset="0"/>
                          <a:ea typeface="Calibri" pitchFamily="34" charset="-122"/>
                          <a:cs typeface="Calibri" pitchFamily="34" charset="-120"/>
                        </a:rPr>
                        <a:t>0.007</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900" dirty="0">
                          <a:solidFill>
                            <a:srgbClr val="059669"/>
                          </a:solidFill>
                          <a:latin typeface="Calibri" pitchFamily="34" charset="0"/>
                          <a:ea typeface="Calibri" pitchFamily="34" charset="-122"/>
                          <a:cs typeface="Calibri" pitchFamily="34" charset="-120"/>
                        </a:rPr>
                        <a:t>Real ✓</a:t>
                      </a:r>
                      <a:endParaRPr lang="en-US" sz="9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2" name="Text 9"/>
          <p:cNvSpPr/>
          <p:nvPr/>
        </p:nvSpPr>
        <p:spPr>
          <a:xfrm>
            <a:off x="502920" y="3383280"/>
            <a:ext cx="3840480" cy="457200"/>
          </a:xfrm>
          <a:prstGeom prst="rect">
            <a:avLst/>
          </a:prstGeom>
          <a:noFill/>
          <a:ln/>
        </p:spPr>
        <p:txBody>
          <a:bodyPr wrap="square" lIns="0" tIns="0" rIns="0" bIns="0"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All 5 tested stocks rejected H₀.</a:t>
            </a:r>
            <a:endParaRPr lang="en-US" sz="1100" dirty="0"/>
          </a:p>
          <a:p>
            <a:pPr indent="0" marL="0">
              <a:buNone/>
            </a:pPr>
            <a:r>
              <a:rPr lang="en-US" sz="1100" b="1" dirty="0">
                <a:solidFill>
                  <a:srgbClr val="10B981"/>
                </a:solidFill>
                <a:latin typeface="Calibri" pitchFamily="34" charset="0"/>
                <a:ea typeface="Calibri" pitchFamily="34" charset="-122"/>
                <a:cs typeface="Calibri" pitchFamily="34" charset="-120"/>
              </a:rPr>
              <a:t>These trends are statistically real.</a:t>
            </a:r>
            <a:endParaRPr lang="en-US" sz="1100" dirty="0"/>
          </a:p>
        </p:txBody>
      </p:sp>
      <p:sp>
        <p:nvSpPr>
          <p:cNvPr id="13" name="Shape 10"/>
          <p:cNvSpPr/>
          <p:nvPr/>
        </p:nvSpPr>
        <p:spPr>
          <a:xfrm>
            <a:off x="4754880" y="1417320"/>
            <a:ext cx="4114800" cy="3108960"/>
          </a:xfrm>
          <a:prstGeom prst="rect">
            <a:avLst/>
          </a:prstGeom>
          <a:solidFill>
            <a:srgbClr val="F0F9FF"/>
          </a:solidFill>
          <a:ln/>
          <a:effectLst>
            <a:outerShdw sx="100000" sy="100000" kx="0" ky="0" algn="bl" rotWithShape="0" blurRad="76200" dist="25400" dir="8100000">
              <a:srgbClr val="000000">
                <a:alpha val="12000"/>
              </a:srgbClr>
            </a:outerShdw>
          </a:effectLst>
        </p:spPr>
      </p:sp>
      <p:sp>
        <p:nvSpPr>
          <p:cNvPr id="14" name="Shape 11"/>
          <p:cNvSpPr/>
          <p:nvPr/>
        </p:nvSpPr>
        <p:spPr>
          <a:xfrm>
            <a:off x="4754880" y="1417320"/>
            <a:ext cx="4114800" cy="54864"/>
          </a:xfrm>
          <a:prstGeom prst="rect">
            <a:avLst/>
          </a:prstGeom>
          <a:solidFill>
            <a:srgbClr val="F59E0B"/>
          </a:solidFill>
          <a:ln/>
        </p:spPr>
      </p:sp>
      <p:sp>
        <p:nvSpPr>
          <p:cNvPr id="15" name="Text 12"/>
          <p:cNvSpPr/>
          <p:nvPr/>
        </p:nvSpPr>
        <p:spPr>
          <a:xfrm>
            <a:off x="4892040" y="1508760"/>
            <a:ext cx="384048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Test 2: Do sectors move differently?</a:t>
            </a:r>
            <a:endParaRPr lang="en-US" sz="1300" dirty="0"/>
          </a:p>
        </p:txBody>
      </p:sp>
      <p:sp>
        <p:nvSpPr>
          <p:cNvPr id="16" name="Text 13"/>
          <p:cNvSpPr/>
          <p:nvPr/>
        </p:nvSpPr>
        <p:spPr>
          <a:xfrm>
            <a:off x="4892040" y="1783080"/>
            <a:ext cx="3840480" cy="18288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2-Sample T-Test — p &gt; 0.05 means no difference</a:t>
            </a:r>
            <a:endParaRPr lang="en-US" sz="900" dirty="0"/>
          </a:p>
        </p:txBody>
      </p:sp>
      <p:sp>
        <p:nvSpPr>
          <p:cNvPr id="17" name="Text 14"/>
          <p:cNvSpPr/>
          <p:nvPr/>
        </p:nvSpPr>
        <p:spPr>
          <a:xfrm>
            <a:off x="4892040" y="2148840"/>
            <a:ext cx="3840480" cy="228600"/>
          </a:xfrm>
          <a:prstGeom prst="rect">
            <a:avLst/>
          </a:prstGeom>
          <a:noFill/>
          <a:ln/>
        </p:spPr>
        <p:txBody>
          <a:bodyPr wrap="square" lIns="0" tIns="0" rIns="0" bIns="0" rtlCol="0" anchor="ctr"/>
          <a:lstStyle/>
          <a:p>
            <a:pPr indent="0" marL="0">
              <a:buNone/>
            </a:pPr>
            <a:r>
              <a:rPr lang="en-US" sz="1100" b="1" dirty="0">
                <a:solidFill>
                  <a:srgbClr val="0891B2"/>
                </a:solidFill>
                <a:latin typeface="Calibri" pitchFamily="34" charset="0"/>
                <a:ea typeface="Calibri" pitchFamily="34" charset="-122"/>
                <a:cs typeface="Calibri" pitchFamily="34" charset="-120"/>
              </a:rPr>
              <a:t>Banking vs Real Estate</a:t>
            </a:r>
            <a:endParaRPr lang="en-US" sz="1100" dirty="0"/>
          </a:p>
        </p:txBody>
      </p:sp>
      <p:sp>
        <p:nvSpPr>
          <p:cNvPr id="18" name="Text 15"/>
          <p:cNvSpPr/>
          <p:nvPr/>
        </p:nvSpPr>
        <p:spPr>
          <a:xfrm>
            <a:off x="4892040" y="2377440"/>
            <a:ext cx="1828800" cy="320040"/>
          </a:xfrm>
          <a:prstGeom prst="rect">
            <a:avLst/>
          </a:prstGeom>
          <a:noFill/>
          <a:ln/>
        </p:spPr>
        <p:txBody>
          <a:bodyPr wrap="square" lIns="0" tIns="0" rIns="0" bIns="0" rtlCol="0" anchor="ctr"/>
          <a:lstStyle/>
          <a:p>
            <a:pPr indent="0" marL="0">
              <a:buNone/>
            </a:pPr>
            <a:r>
              <a:rPr lang="en-US" sz="2000" b="1" dirty="0">
                <a:solidFill>
                  <a:srgbClr val="F59E0B"/>
                </a:solidFill>
                <a:latin typeface="Trebuchet MS" pitchFamily="34" charset="0"/>
                <a:ea typeface="Trebuchet MS" pitchFamily="34" charset="-122"/>
                <a:cs typeface="Trebuchet MS" pitchFamily="34" charset="-120"/>
              </a:rPr>
              <a:t>p = 0.803</a:t>
            </a:r>
            <a:endParaRPr lang="en-US" sz="2000" dirty="0"/>
          </a:p>
        </p:txBody>
      </p:sp>
      <p:sp>
        <p:nvSpPr>
          <p:cNvPr id="19" name="Text 16"/>
          <p:cNvSpPr/>
          <p:nvPr/>
        </p:nvSpPr>
        <p:spPr>
          <a:xfrm>
            <a:off x="6675120" y="2395728"/>
            <a:ext cx="2011680" cy="27432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 difference — they move together</a:t>
            </a:r>
            <a:endParaRPr lang="en-US" sz="1000" dirty="0"/>
          </a:p>
        </p:txBody>
      </p:sp>
      <p:sp>
        <p:nvSpPr>
          <p:cNvPr id="20" name="Text 17"/>
          <p:cNvSpPr/>
          <p:nvPr/>
        </p:nvSpPr>
        <p:spPr>
          <a:xfrm>
            <a:off x="4892040" y="2926080"/>
            <a:ext cx="3840480" cy="73152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Both sectors react the same way</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to market events. The market is</a:t>
            </a:r>
            <a:endParaRPr lang="en-US" sz="1100" dirty="0"/>
          </a:p>
          <a:p>
            <a:pPr indent="0" marL="0">
              <a:buNone/>
            </a:pPr>
            <a:r>
              <a:rPr lang="en-US" sz="1100" dirty="0">
                <a:solidFill>
                  <a:srgbClr val="1E293B"/>
                </a:solidFill>
                <a:latin typeface="Calibri" pitchFamily="34" charset="0"/>
                <a:ea typeface="Calibri" pitchFamily="34" charset="-122"/>
                <a:cs typeface="Calibri" pitchFamily="34" charset="-120"/>
              </a:rPr>
              <a:t>one big wave, not separate pools.</a:t>
            </a:r>
            <a:endParaRPr lang="en-US" sz="1100" dirty="0"/>
          </a:p>
        </p:txBody>
      </p:sp>
      <p:sp>
        <p:nvSpPr>
          <p:cNvPr id="21" name="Shape 18"/>
          <p:cNvSpPr/>
          <p:nvPr/>
        </p:nvSpPr>
        <p:spPr>
          <a:xfrm>
            <a:off x="365760" y="4617720"/>
            <a:ext cx="8412480" cy="411480"/>
          </a:xfrm>
          <a:prstGeom prst="rect">
            <a:avLst/>
          </a:prstGeom>
          <a:solidFill>
            <a:srgbClr val="ECFDF5"/>
          </a:solidFill>
          <a:ln/>
        </p:spPr>
      </p:sp>
      <p:sp>
        <p:nvSpPr>
          <p:cNvPr id="22" name="Shape 19"/>
          <p:cNvSpPr/>
          <p:nvPr/>
        </p:nvSpPr>
        <p:spPr>
          <a:xfrm>
            <a:off x="365760" y="4617720"/>
            <a:ext cx="54864" cy="411480"/>
          </a:xfrm>
          <a:prstGeom prst="rect">
            <a:avLst/>
          </a:prstGeom>
          <a:solidFill>
            <a:srgbClr val="10B981"/>
          </a:solidFill>
          <a:ln/>
        </p:spPr>
      </p:sp>
      <p:sp>
        <p:nvSpPr>
          <p:cNvPr id="23" name="Text 20"/>
          <p:cNvSpPr/>
          <p:nvPr/>
        </p:nvSpPr>
        <p:spPr>
          <a:xfrm>
            <a:off x="594360" y="4645152"/>
            <a:ext cx="8046720" cy="365760"/>
          </a:xfrm>
          <a:prstGeom prst="rect">
            <a:avLst/>
          </a:prstGeom>
          <a:noFill/>
          <a:ln/>
        </p:spPr>
        <p:txBody>
          <a:bodyPr wrap="square" lIns="0" tIns="0" rIns="0" bIns="0" rtlCol="0" anchor="ctr"/>
          <a:lstStyle/>
          <a:p>
            <a:pPr indent="0" marL="0">
              <a:buNone/>
            </a:pPr>
            <a:r>
              <a:rPr lang="en-US" sz="1050" b="1" dirty="0">
                <a:solidFill>
                  <a:srgbClr val="1E293B"/>
                </a:solidFill>
                <a:latin typeface="Calibri" pitchFamily="34" charset="0"/>
                <a:ea typeface="Calibri" pitchFamily="34" charset="-122"/>
                <a:cs typeface="Calibri" pitchFamily="34" charset="-120"/>
              </a:rPr>
              <a:t>These aren't contradictory — Test 1 says "stocks are genuinely going up" and Test 2 says "they're all going up together." Same macro forces push everything.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Sectors Move Together — Visual Proof</a:t>
            </a:r>
            <a:endParaRPr lang="en-US" sz="2400" dirty="0"/>
          </a:p>
        </p:txBody>
      </p:sp>
      <p:pic>
        <p:nvPicPr>
          <p:cNvPr id="4" name="Image 0" descr="preencoded.png">    </p:cNvPr>
          <p:cNvPicPr>
            <a:picLocks noChangeAspect="1"/>
          </p:cNvPicPr>
          <p:nvPr/>
        </p:nvPicPr>
        <p:blipFill>
          <a:blip r:embed="rId1"/>
          <a:stretch>
            <a:fillRect/>
          </a:stretch>
        </p:blipFill>
        <p:spPr>
          <a:xfrm>
            <a:off x="182880" y="731520"/>
            <a:ext cx="8778240" cy="2926080"/>
          </a:xfrm>
          <a:prstGeom prst="rect">
            <a:avLst/>
          </a:prstGeom>
        </p:spPr>
      </p:pic>
      <p:sp>
        <p:nvSpPr>
          <p:cNvPr id="5" name="Shape 2"/>
          <p:cNvSpPr/>
          <p:nvPr/>
        </p:nvSpPr>
        <p:spPr>
          <a:xfrm>
            <a:off x="365760" y="3840480"/>
            <a:ext cx="8412480" cy="1097280"/>
          </a:xfrm>
          <a:prstGeom prst="rect">
            <a:avLst/>
          </a:prstGeom>
          <a:solidFill>
            <a:srgbClr val="F0F9FF"/>
          </a:solidFill>
          <a:ln/>
        </p:spPr>
      </p:sp>
      <p:sp>
        <p:nvSpPr>
          <p:cNvPr id="6" name="Shape 3"/>
          <p:cNvSpPr/>
          <p:nvPr/>
        </p:nvSpPr>
        <p:spPr>
          <a:xfrm>
            <a:off x="365760" y="3840480"/>
            <a:ext cx="54864" cy="1097280"/>
          </a:xfrm>
          <a:prstGeom prst="rect">
            <a:avLst/>
          </a:prstGeom>
          <a:solidFill>
            <a:srgbClr val="F59E0B"/>
          </a:solidFill>
          <a:ln/>
        </p:spPr>
      </p:sp>
      <p:sp>
        <p:nvSpPr>
          <p:cNvPr id="7" name="Text 4"/>
          <p:cNvSpPr/>
          <p:nvPr/>
        </p:nvSpPr>
        <p:spPr>
          <a:xfrm>
            <a:off x="594360" y="3886200"/>
            <a:ext cx="8046720" cy="1005840"/>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All five sector lines spike and dip at almost exactly the same time. Banking, Real Estate, Telecom, Finance, Industry — they all dance to the same beat. When the Central Bank makes a move or the pound crashes, nobody is spared. This is why sector diversification within EGX30 doesn't buy you much protection.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When the Pound Crashes — What Happens to Stocks?</a:t>
            </a:r>
            <a:endParaRPr lang="en-US" sz="2400" dirty="0"/>
          </a:p>
        </p:txBody>
      </p:sp>
      <p:pic>
        <p:nvPicPr>
          <p:cNvPr id="4" name="Image 0" descr="preencoded.png">    </p:cNvPr>
          <p:cNvPicPr>
            <a:picLocks noChangeAspect="1"/>
          </p:cNvPicPr>
          <p:nvPr/>
        </p:nvPicPr>
        <p:blipFill>
          <a:blip r:embed="rId1"/>
          <a:stretch>
            <a:fillRect/>
          </a:stretch>
        </p:blipFill>
        <p:spPr>
          <a:xfrm>
            <a:off x="137160" y="685800"/>
            <a:ext cx="5029200" cy="2286000"/>
          </a:xfrm>
          <a:prstGeom prst="rect">
            <a:avLst/>
          </a:prstGeom>
        </p:spPr>
      </p:pic>
      <p:pic>
        <p:nvPicPr>
          <p:cNvPr id="5" name="Image 1" descr="preencoded.png">    </p:cNvPr>
          <p:cNvPicPr>
            <a:picLocks noChangeAspect="1"/>
          </p:cNvPicPr>
          <p:nvPr/>
        </p:nvPicPr>
        <p:blipFill>
          <a:blip r:embed="rId2"/>
          <a:stretch>
            <a:fillRect/>
          </a:stretch>
        </p:blipFill>
        <p:spPr>
          <a:xfrm>
            <a:off x="137160" y="3063240"/>
            <a:ext cx="5029200" cy="1920240"/>
          </a:xfrm>
          <a:prstGeom prst="rect">
            <a:avLst/>
          </a:prstGeom>
        </p:spPr>
      </p:pic>
      <p:sp>
        <p:nvSpPr>
          <p:cNvPr id="6" name="Shape 2"/>
          <p:cNvSpPr/>
          <p:nvPr/>
        </p:nvSpPr>
        <p:spPr>
          <a:xfrm>
            <a:off x="5394960" y="731520"/>
            <a:ext cx="3474720" cy="4114800"/>
          </a:xfrm>
          <a:prstGeom prst="rect">
            <a:avLst/>
          </a:prstGeom>
          <a:solidFill>
            <a:srgbClr val="F0F9FF"/>
          </a:solidFill>
          <a:ln/>
          <a:effectLst>
            <a:outerShdw sx="100000" sy="100000" kx="0" ky="0" algn="bl" rotWithShape="0" blurRad="76200" dist="25400" dir="8100000">
              <a:srgbClr val="000000">
                <a:alpha val="12000"/>
              </a:srgbClr>
            </a:outerShdw>
          </a:effectLst>
        </p:spPr>
      </p:sp>
      <p:sp>
        <p:nvSpPr>
          <p:cNvPr id="7" name="Text 3"/>
          <p:cNvSpPr/>
          <p:nvPr/>
        </p:nvSpPr>
        <p:spPr>
          <a:xfrm>
            <a:off x="5532120" y="822960"/>
            <a:ext cx="320040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3 Devaluations, 3 Shocks</a:t>
            </a:r>
            <a:endParaRPr lang="en-US" sz="1300" dirty="0"/>
          </a:p>
        </p:txBody>
      </p:sp>
      <p:sp>
        <p:nvSpPr>
          <p:cNvPr id="8" name="Shape 4"/>
          <p:cNvSpPr/>
          <p:nvPr/>
        </p:nvSpPr>
        <p:spPr>
          <a:xfrm>
            <a:off x="5532120" y="1234440"/>
            <a:ext cx="3200400" cy="868680"/>
          </a:xfrm>
          <a:prstGeom prst="rect">
            <a:avLst/>
          </a:prstGeom>
          <a:solidFill>
            <a:srgbClr val="FFFFFF"/>
          </a:solidFill>
          <a:ln/>
        </p:spPr>
      </p:sp>
      <p:sp>
        <p:nvSpPr>
          <p:cNvPr id="9" name="Shape 5"/>
          <p:cNvSpPr/>
          <p:nvPr/>
        </p:nvSpPr>
        <p:spPr>
          <a:xfrm>
            <a:off x="5532120" y="1234440"/>
            <a:ext cx="54864" cy="868680"/>
          </a:xfrm>
          <a:prstGeom prst="rect">
            <a:avLst/>
          </a:prstGeom>
          <a:solidFill>
            <a:srgbClr val="EF4444"/>
          </a:solidFill>
          <a:ln/>
        </p:spPr>
      </p:sp>
      <p:sp>
        <p:nvSpPr>
          <p:cNvPr id="10" name="Text 6"/>
          <p:cNvSpPr/>
          <p:nvPr/>
        </p:nvSpPr>
        <p:spPr>
          <a:xfrm>
            <a:off x="5669280" y="1280160"/>
            <a:ext cx="1097280" cy="18288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Mar 2022</a:t>
            </a:r>
            <a:endParaRPr lang="en-US" sz="1100" dirty="0"/>
          </a:p>
        </p:txBody>
      </p:sp>
      <p:sp>
        <p:nvSpPr>
          <p:cNvPr id="11" name="Text 7"/>
          <p:cNvSpPr/>
          <p:nvPr/>
        </p:nvSpPr>
        <p:spPr>
          <a:xfrm>
            <a:off x="6766560" y="1280160"/>
            <a:ext cx="182880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15.7 → 18.5 EGP/$</a:t>
            </a:r>
            <a:endParaRPr lang="en-US" sz="1000" dirty="0"/>
          </a:p>
        </p:txBody>
      </p:sp>
      <p:sp>
        <p:nvSpPr>
          <p:cNvPr id="12" name="Text 8"/>
          <p:cNvSpPr/>
          <p:nvPr/>
        </p:nvSpPr>
        <p:spPr>
          <a:xfrm>
            <a:off x="5669280" y="1554480"/>
            <a:ext cx="292608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Moderate volatility spike</a:t>
            </a:r>
            <a:endParaRPr lang="en-US" sz="1000" dirty="0"/>
          </a:p>
        </p:txBody>
      </p:sp>
      <p:sp>
        <p:nvSpPr>
          <p:cNvPr id="13" name="Shape 9"/>
          <p:cNvSpPr/>
          <p:nvPr/>
        </p:nvSpPr>
        <p:spPr>
          <a:xfrm>
            <a:off x="5532120" y="2286000"/>
            <a:ext cx="3200400" cy="868680"/>
          </a:xfrm>
          <a:prstGeom prst="rect">
            <a:avLst/>
          </a:prstGeom>
          <a:solidFill>
            <a:srgbClr val="FFFFFF"/>
          </a:solidFill>
          <a:ln/>
        </p:spPr>
      </p:sp>
      <p:sp>
        <p:nvSpPr>
          <p:cNvPr id="14" name="Shape 10"/>
          <p:cNvSpPr/>
          <p:nvPr/>
        </p:nvSpPr>
        <p:spPr>
          <a:xfrm>
            <a:off x="5532120" y="2286000"/>
            <a:ext cx="54864" cy="868680"/>
          </a:xfrm>
          <a:prstGeom prst="rect">
            <a:avLst/>
          </a:prstGeom>
          <a:solidFill>
            <a:srgbClr val="EF4444"/>
          </a:solidFill>
          <a:ln/>
        </p:spPr>
      </p:sp>
      <p:sp>
        <p:nvSpPr>
          <p:cNvPr id="15" name="Text 11"/>
          <p:cNvSpPr/>
          <p:nvPr/>
        </p:nvSpPr>
        <p:spPr>
          <a:xfrm>
            <a:off x="5669280" y="2331720"/>
            <a:ext cx="1097280" cy="18288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Oct 2022</a:t>
            </a:r>
            <a:endParaRPr lang="en-US" sz="1100" dirty="0"/>
          </a:p>
        </p:txBody>
      </p:sp>
      <p:sp>
        <p:nvSpPr>
          <p:cNvPr id="16" name="Text 12"/>
          <p:cNvSpPr/>
          <p:nvPr/>
        </p:nvSpPr>
        <p:spPr>
          <a:xfrm>
            <a:off x="6766560" y="2331720"/>
            <a:ext cx="182880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18.5 → 23 EGP/$</a:t>
            </a:r>
            <a:endParaRPr lang="en-US" sz="1000" dirty="0"/>
          </a:p>
        </p:txBody>
      </p:sp>
      <p:sp>
        <p:nvSpPr>
          <p:cNvPr id="17" name="Text 13"/>
          <p:cNvSpPr/>
          <p:nvPr/>
        </p:nvSpPr>
        <p:spPr>
          <a:xfrm>
            <a:off x="5669280" y="2606040"/>
            <a:ext cx="292608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Significant but short-lived</a:t>
            </a:r>
            <a:endParaRPr lang="en-US" sz="1000" dirty="0"/>
          </a:p>
        </p:txBody>
      </p:sp>
      <p:sp>
        <p:nvSpPr>
          <p:cNvPr id="18" name="Shape 14"/>
          <p:cNvSpPr/>
          <p:nvPr/>
        </p:nvSpPr>
        <p:spPr>
          <a:xfrm>
            <a:off x="5532120" y="3337560"/>
            <a:ext cx="3200400" cy="868680"/>
          </a:xfrm>
          <a:prstGeom prst="rect">
            <a:avLst/>
          </a:prstGeom>
          <a:solidFill>
            <a:srgbClr val="FFFFFF"/>
          </a:solidFill>
          <a:ln/>
        </p:spPr>
      </p:sp>
      <p:sp>
        <p:nvSpPr>
          <p:cNvPr id="19" name="Shape 15"/>
          <p:cNvSpPr/>
          <p:nvPr/>
        </p:nvSpPr>
        <p:spPr>
          <a:xfrm>
            <a:off x="5532120" y="3337560"/>
            <a:ext cx="54864" cy="868680"/>
          </a:xfrm>
          <a:prstGeom prst="rect">
            <a:avLst/>
          </a:prstGeom>
          <a:solidFill>
            <a:srgbClr val="EF4444"/>
          </a:solidFill>
          <a:ln/>
        </p:spPr>
      </p:sp>
      <p:sp>
        <p:nvSpPr>
          <p:cNvPr id="20" name="Text 16"/>
          <p:cNvSpPr/>
          <p:nvPr/>
        </p:nvSpPr>
        <p:spPr>
          <a:xfrm>
            <a:off x="5669280" y="3383280"/>
            <a:ext cx="1097280" cy="182880"/>
          </a:xfrm>
          <a:prstGeom prst="rect">
            <a:avLst/>
          </a:prstGeom>
          <a:noFill/>
          <a:ln/>
        </p:spPr>
        <p:txBody>
          <a:bodyPr wrap="square" lIns="0" tIns="0" rIns="0" bIns="0"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Jan 2024</a:t>
            </a:r>
            <a:endParaRPr lang="en-US" sz="1100" dirty="0"/>
          </a:p>
        </p:txBody>
      </p:sp>
      <p:sp>
        <p:nvSpPr>
          <p:cNvPr id="21" name="Text 17"/>
          <p:cNvSpPr/>
          <p:nvPr/>
        </p:nvSpPr>
        <p:spPr>
          <a:xfrm>
            <a:off x="6766560" y="3383280"/>
            <a:ext cx="1828800" cy="18288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30 → 50 EGP/$</a:t>
            </a:r>
            <a:endParaRPr lang="en-US" sz="1000" dirty="0"/>
          </a:p>
        </p:txBody>
      </p:sp>
      <p:sp>
        <p:nvSpPr>
          <p:cNvPr id="22" name="Text 18"/>
          <p:cNvSpPr/>
          <p:nvPr/>
        </p:nvSpPr>
        <p:spPr>
          <a:xfrm>
            <a:off x="5669280" y="3657600"/>
            <a:ext cx="2926080" cy="457200"/>
          </a:xfrm>
          <a:prstGeom prst="rect">
            <a:avLst/>
          </a:prstGeom>
          <a:noFill/>
          <a:ln/>
        </p:spPr>
        <p:txBody>
          <a:bodyPr wrap="square" lIns="0" tIns="0" rIns="0" bIns="0"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Massive — doubled daily swings</a:t>
            </a:r>
            <a:endParaRPr lang="en-US" sz="1000" dirty="0"/>
          </a:p>
        </p:txBody>
      </p:sp>
      <p:sp>
        <p:nvSpPr>
          <p:cNvPr id="23" name="Text 19"/>
          <p:cNvSpPr/>
          <p:nvPr/>
        </p:nvSpPr>
        <p:spPr>
          <a:xfrm>
            <a:off x="5532120" y="4297680"/>
            <a:ext cx="3200400" cy="548640"/>
          </a:xfrm>
          <a:prstGeom prst="rect">
            <a:avLst/>
          </a:prstGeom>
          <a:noFill/>
          <a:ln/>
        </p:spPr>
        <p:txBody>
          <a:bodyPr wrap="square" lIns="0" tIns="0" rIns="0" bIns="0" rtlCol="0" anchor="ctr"/>
          <a:lstStyle/>
          <a:p>
            <a:pPr indent="0" marL="0">
              <a:buNone/>
            </a:pPr>
            <a:r>
              <a:rPr lang="en-US" sz="1000" b="1" i="1" dirty="0">
                <a:solidFill>
                  <a:srgbClr val="1E293B"/>
                </a:solidFill>
                <a:latin typeface="Calibri" pitchFamily="34" charset="0"/>
                <a:ea typeface="Calibri" pitchFamily="34" charset="-122"/>
                <a:cs typeface="Calibri" pitchFamily="34" charset="-120"/>
              </a:rPr>
              <a:t>Every devaluation hit all stocks,</a:t>
            </a:r>
            <a:endParaRPr lang="en-US" sz="1000" dirty="0"/>
          </a:p>
          <a:p>
            <a:pPr indent="0" marL="0">
              <a:buNone/>
            </a:pPr>
            <a:r>
              <a:rPr lang="en-US" sz="1000" b="1" i="1" dirty="0">
                <a:solidFill>
                  <a:srgbClr val="1E293B"/>
                </a:solidFill>
                <a:latin typeface="Calibri" pitchFamily="34" charset="0"/>
                <a:ea typeface="Calibri" pitchFamily="34" charset="-122"/>
                <a:cs typeface="Calibri" pitchFamily="34" charset="-120"/>
              </a:rPr>
              <a:t>not just banks or exporters.</a:t>
            </a:r>
            <a:endParaRPr lang="en-US" sz="1000" dirty="0"/>
          </a:p>
          <a:p>
            <a:pPr indent="0" marL="0">
              <a:buNone/>
            </a:pPr>
            <a:r>
              <a:rPr lang="en-US" sz="1000" b="1" i="1" dirty="0">
                <a:solidFill>
                  <a:srgbClr val="1E293B"/>
                </a:solidFill>
                <a:latin typeface="Calibri" pitchFamily="34" charset="0"/>
                <a:ea typeface="Calibri" pitchFamily="34" charset="-122"/>
                <a:cs typeface="Calibri" pitchFamily="34" charset="-120"/>
              </a:rPr>
              <a:t>Macro shocks ripple everywhere.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182880"/>
            <a:ext cx="8229600" cy="457200"/>
          </a:xfrm>
          <a:prstGeom prst="rect">
            <a:avLst/>
          </a:prstGeom>
          <a:noFill/>
          <a:ln/>
        </p:spPr>
        <p:txBody>
          <a:bodyPr wrap="square" lIns="0" tIns="0" rIns="0" bIns="0" rtlCol="0" anchor="ctr"/>
          <a:lstStyle/>
          <a:p>
            <a:pPr indent="0" marL="0">
              <a:buNone/>
            </a:pPr>
            <a:r>
              <a:rPr lang="en-US" sz="2400" b="1" dirty="0">
                <a:solidFill>
                  <a:srgbClr val="1E293B"/>
                </a:solidFill>
                <a:latin typeface="Trebuchet MS" pitchFamily="34" charset="0"/>
                <a:ea typeface="Trebuchet MS" pitchFamily="34" charset="-122"/>
                <a:cs typeface="Trebuchet MS" pitchFamily="34" charset="-120"/>
              </a:rPr>
              <a:t>Can We Predict Tomorrow's Price?</a:t>
            </a:r>
            <a:endParaRPr lang="en-US" sz="2400" dirty="0"/>
          </a:p>
        </p:txBody>
      </p:sp>
      <p:pic>
        <p:nvPicPr>
          <p:cNvPr id="4" name="Image 0" descr="preencoded.png">    </p:cNvPr>
          <p:cNvPicPr>
            <a:picLocks noChangeAspect="1"/>
          </p:cNvPicPr>
          <p:nvPr/>
        </p:nvPicPr>
        <p:blipFill>
          <a:blip r:embed="rId1"/>
          <a:stretch>
            <a:fillRect/>
          </a:stretch>
        </p:blipFill>
        <p:spPr>
          <a:xfrm>
            <a:off x="91440" y="685800"/>
            <a:ext cx="8961120" cy="1920240"/>
          </a:xfrm>
          <a:prstGeom prst="rect">
            <a:avLst/>
          </a:prstGeom>
        </p:spPr>
      </p:pic>
      <p:pic>
        <p:nvPicPr>
          <p:cNvPr id="5" name="Image 1" descr="preencoded.png">    </p:cNvPr>
          <p:cNvPicPr>
            <a:picLocks noChangeAspect="1"/>
          </p:cNvPicPr>
          <p:nvPr/>
        </p:nvPicPr>
        <p:blipFill>
          <a:blip r:embed="rId2"/>
          <a:stretch>
            <a:fillRect/>
          </a:stretch>
        </p:blipFill>
        <p:spPr>
          <a:xfrm>
            <a:off x="457200" y="2697480"/>
            <a:ext cx="5029200" cy="1645920"/>
          </a:xfrm>
          <a:prstGeom prst="rect">
            <a:avLst/>
          </a:prstGeom>
        </p:spPr>
      </p:pic>
      <p:sp>
        <p:nvSpPr>
          <p:cNvPr id="6" name="Shape 2"/>
          <p:cNvSpPr/>
          <p:nvPr/>
        </p:nvSpPr>
        <p:spPr>
          <a:xfrm>
            <a:off x="5760720" y="2743200"/>
            <a:ext cx="3108960" cy="2194560"/>
          </a:xfrm>
          <a:prstGeom prst="rect">
            <a:avLst/>
          </a:prstGeom>
          <a:solidFill>
            <a:srgbClr val="F0F9FF"/>
          </a:solidFill>
          <a:ln/>
          <a:effectLst>
            <a:outerShdw sx="100000" sy="100000" kx="0" ky="0" algn="bl" rotWithShape="0" blurRad="76200" dist="25400" dir="8100000">
              <a:srgbClr val="000000">
                <a:alpha val="12000"/>
              </a:srgbClr>
            </a:outerShdw>
          </a:effectLst>
        </p:spPr>
      </p:sp>
      <p:sp>
        <p:nvSpPr>
          <p:cNvPr id="7" name="Text 3"/>
          <p:cNvSpPr/>
          <p:nvPr/>
        </p:nvSpPr>
        <p:spPr>
          <a:xfrm>
            <a:off x="5897880" y="2834640"/>
            <a:ext cx="2834640" cy="274320"/>
          </a:xfrm>
          <a:prstGeom prst="rect">
            <a:avLst/>
          </a:prstGeom>
          <a:noFill/>
          <a:ln/>
        </p:spPr>
        <p:txBody>
          <a:bodyPr wrap="square" lIns="0" tIns="0" rIns="0" bIns="0" rtlCol="0" anchor="ctr"/>
          <a:lstStyle/>
          <a:p>
            <a:pPr indent="0" marL="0">
              <a:buNone/>
            </a:pPr>
            <a:r>
              <a:rPr lang="en-US" sz="1300" b="1" dirty="0">
                <a:solidFill>
                  <a:srgbClr val="1E293B"/>
                </a:solidFill>
                <a:latin typeface="Trebuchet MS" pitchFamily="34" charset="0"/>
                <a:ea typeface="Trebuchet MS" pitchFamily="34" charset="-122"/>
                <a:cs typeface="Trebuchet MS" pitchFamily="34" charset="-120"/>
              </a:rPr>
              <a:t>Honest Assessment</a:t>
            </a:r>
            <a:endParaRPr lang="en-US" sz="1300" dirty="0"/>
          </a:p>
        </p:txBody>
      </p:sp>
      <p:sp>
        <p:nvSpPr>
          <p:cNvPr id="8" name="Text 4"/>
          <p:cNvSpPr/>
          <p:nvPr/>
        </p:nvSpPr>
        <p:spPr>
          <a:xfrm>
            <a:off x="5897880" y="3154680"/>
            <a:ext cx="2834640" cy="1737360"/>
          </a:xfrm>
          <a:prstGeom prst="rect">
            <a:avLst/>
          </a:prstGeom>
          <a:noFill/>
          <a:ln/>
        </p:spPr>
        <p:txBody>
          <a:bodyPr wrap="square" lIns="0" tIns="0" rIns="0" bIns="0" rtlCol="0" anchor="ctr"/>
          <a:lstStyle/>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R² scores look great (0.97+) — but that's partly because we use yesterday's price to predict today's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The model tracks trends well but can't predict sudden crashes from devaluation events</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RMSE tells the real story — error is bigger for expensive stocks (COMI, SWDY)</a:t>
            </a:r>
            <a:endParaRPr lang="en-US" sz="950" dirty="0"/>
          </a:p>
          <a:p>
            <a:pPr marL="342900" indent="-342900">
              <a:spcAft>
                <a:spcPts val="600"/>
              </a:spcAft>
              <a:buSzPct val="100000"/>
              <a:buChar char="•"/>
            </a:pPr>
            <a:r>
              <a:rPr lang="en-US" sz="950" dirty="0">
                <a:solidFill>
                  <a:srgbClr val="1E293B"/>
                </a:solidFill>
                <a:latin typeface="Calibri" pitchFamily="34" charset="0"/>
                <a:ea typeface="Calibri" pitchFamily="34" charset="-122"/>
                <a:cs typeface="Calibri" pitchFamily="34" charset="-120"/>
              </a:rPr>
              <a:t>It's a useful baseline, but real prediction needs news data, volume shocks, and non-linear models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2D3EE"/>
          </a:solidFill>
          <a:ln/>
        </p:spPr>
      </p:sp>
      <p:sp>
        <p:nvSpPr>
          <p:cNvPr id="3" name="Text 1"/>
          <p:cNvSpPr/>
          <p:nvPr/>
        </p:nvSpPr>
        <p:spPr>
          <a:xfrm>
            <a:off x="457200" y="228600"/>
            <a:ext cx="8229600" cy="45720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The Full Picture</a:t>
            </a:r>
            <a:endParaRPr lang="en-US" sz="2600" dirty="0"/>
          </a:p>
        </p:txBody>
      </p:sp>
      <p:sp>
        <p:nvSpPr>
          <p:cNvPr id="4" name="Shape 2"/>
          <p:cNvSpPr/>
          <p:nvPr/>
        </p:nvSpPr>
        <p:spPr>
          <a:xfrm>
            <a:off x="457200" y="868680"/>
            <a:ext cx="8229600" cy="777240"/>
          </a:xfrm>
          <a:prstGeom prst="rect">
            <a:avLst/>
          </a:prstGeom>
          <a:solidFill>
            <a:srgbClr val="0D2847"/>
          </a:solidFill>
          <a:ln/>
        </p:spPr>
      </p:sp>
      <p:sp>
        <p:nvSpPr>
          <p:cNvPr id="5" name="Shape 3"/>
          <p:cNvSpPr/>
          <p:nvPr/>
        </p:nvSpPr>
        <p:spPr>
          <a:xfrm>
            <a:off x="457200" y="868680"/>
            <a:ext cx="54864" cy="777240"/>
          </a:xfrm>
          <a:prstGeom prst="rect">
            <a:avLst/>
          </a:prstGeom>
          <a:solidFill>
            <a:srgbClr val="10B981"/>
          </a:solidFill>
          <a:ln/>
        </p:spPr>
      </p:sp>
      <p:sp>
        <p:nvSpPr>
          <p:cNvPr id="6" name="Shape 4"/>
          <p:cNvSpPr/>
          <p:nvPr/>
        </p:nvSpPr>
        <p:spPr>
          <a:xfrm>
            <a:off x="640080" y="978408"/>
            <a:ext cx="347472" cy="347472"/>
          </a:xfrm>
          <a:prstGeom prst="ellipse">
            <a:avLst/>
          </a:prstGeom>
          <a:solidFill>
            <a:srgbClr val="10B981"/>
          </a:solidFill>
          <a:ln/>
        </p:spPr>
      </p:sp>
      <p:sp>
        <p:nvSpPr>
          <p:cNvPr id="7" name="Text 5"/>
          <p:cNvSpPr/>
          <p:nvPr/>
        </p:nvSpPr>
        <p:spPr>
          <a:xfrm>
            <a:off x="640080" y="9784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1</a:t>
            </a:r>
            <a:endParaRPr lang="en-US" sz="1500" dirty="0"/>
          </a:p>
        </p:txBody>
      </p:sp>
      <p:sp>
        <p:nvSpPr>
          <p:cNvPr id="8" name="Text 6"/>
          <p:cNvSpPr/>
          <p:nvPr/>
        </p:nvSpPr>
        <p:spPr>
          <a:xfrm>
            <a:off x="1143000" y="932688"/>
            <a:ext cx="7315200" cy="274320"/>
          </a:xfrm>
          <a:prstGeom prst="rect">
            <a:avLst/>
          </a:prstGeom>
          <a:noFill/>
          <a:ln/>
        </p:spPr>
        <p:txBody>
          <a:bodyPr wrap="square" lIns="0" tIns="0" rIns="0" bIns="0" rtlCol="0" anchor="ctr"/>
          <a:lstStyle/>
          <a:p>
            <a:pPr indent="0" marL="0">
              <a:buNone/>
            </a:pPr>
            <a:r>
              <a:rPr lang="en-US" sz="1400" b="1" dirty="0">
                <a:solidFill>
                  <a:srgbClr val="10B981"/>
                </a:solidFill>
                <a:latin typeface="Trebuchet MS" pitchFamily="34" charset="0"/>
                <a:ea typeface="Trebuchet MS" pitchFamily="34" charset="-122"/>
                <a:cs typeface="Trebuchet MS" pitchFamily="34" charset="-120"/>
              </a:rPr>
              <a:t>The growth is real</a:t>
            </a:r>
            <a:endParaRPr lang="en-US" sz="1400" dirty="0"/>
          </a:p>
        </p:txBody>
      </p:sp>
      <p:sp>
        <p:nvSpPr>
          <p:cNvPr id="9" name="Text 7"/>
          <p:cNvSpPr/>
          <p:nvPr/>
        </p:nvSpPr>
        <p:spPr>
          <a:xfrm>
            <a:off x="1143000" y="1234440"/>
            <a:ext cx="7315200" cy="36576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All 5 tested stocks rejected H₀ — their upward trends are statistically significant, not random luck.</a:t>
            </a:r>
            <a:endParaRPr lang="en-US" sz="1050" dirty="0"/>
          </a:p>
        </p:txBody>
      </p:sp>
      <p:sp>
        <p:nvSpPr>
          <p:cNvPr id="10" name="Shape 8"/>
          <p:cNvSpPr/>
          <p:nvPr/>
        </p:nvSpPr>
        <p:spPr>
          <a:xfrm>
            <a:off x="457200" y="1783080"/>
            <a:ext cx="8229600" cy="777240"/>
          </a:xfrm>
          <a:prstGeom prst="rect">
            <a:avLst/>
          </a:prstGeom>
          <a:solidFill>
            <a:srgbClr val="0D2847"/>
          </a:solidFill>
          <a:ln/>
        </p:spPr>
      </p:sp>
      <p:sp>
        <p:nvSpPr>
          <p:cNvPr id="11" name="Shape 9"/>
          <p:cNvSpPr/>
          <p:nvPr/>
        </p:nvSpPr>
        <p:spPr>
          <a:xfrm>
            <a:off x="457200" y="1783080"/>
            <a:ext cx="54864" cy="777240"/>
          </a:xfrm>
          <a:prstGeom prst="rect">
            <a:avLst/>
          </a:prstGeom>
          <a:solidFill>
            <a:srgbClr val="0891B2"/>
          </a:solidFill>
          <a:ln/>
        </p:spPr>
      </p:sp>
      <p:sp>
        <p:nvSpPr>
          <p:cNvPr id="12" name="Shape 10"/>
          <p:cNvSpPr/>
          <p:nvPr/>
        </p:nvSpPr>
        <p:spPr>
          <a:xfrm>
            <a:off x="640080" y="1892808"/>
            <a:ext cx="347472" cy="347472"/>
          </a:xfrm>
          <a:prstGeom prst="ellipse">
            <a:avLst/>
          </a:prstGeom>
          <a:solidFill>
            <a:srgbClr val="0891B2"/>
          </a:solidFill>
          <a:ln/>
        </p:spPr>
      </p:sp>
      <p:sp>
        <p:nvSpPr>
          <p:cNvPr id="13" name="Text 11"/>
          <p:cNvSpPr/>
          <p:nvPr/>
        </p:nvSpPr>
        <p:spPr>
          <a:xfrm>
            <a:off x="640080" y="18928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2</a:t>
            </a:r>
            <a:endParaRPr lang="en-US" sz="1500" dirty="0"/>
          </a:p>
        </p:txBody>
      </p:sp>
      <p:sp>
        <p:nvSpPr>
          <p:cNvPr id="14" name="Text 12"/>
          <p:cNvSpPr/>
          <p:nvPr/>
        </p:nvSpPr>
        <p:spPr>
          <a:xfrm>
            <a:off x="1143000" y="1847088"/>
            <a:ext cx="7315200" cy="274320"/>
          </a:xfrm>
          <a:prstGeom prst="rect">
            <a:avLst/>
          </a:prstGeom>
          <a:noFill/>
          <a:ln/>
        </p:spPr>
        <p:txBody>
          <a:bodyPr wrap="square" lIns="0" tIns="0" rIns="0" bIns="0" rtlCol="0" anchor="ctr"/>
          <a:lstStyle/>
          <a:p>
            <a:pPr indent="0" marL="0">
              <a:buNone/>
            </a:pPr>
            <a:r>
              <a:rPr lang="en-US" sz="1400" b="1" dirty="0">
                <a:solidFill>
                  <a:srgbClr val="0891B2"/>
                </a:solidFill>
                <a:latin typeface="Trebuchet MS" pitchFamily="34" charset="0"/>
                <a:ea typeface="Trebuchet MS" pitchFamily="34" charset="-122"/>
                <a:cs typeface="Trebuchet MS" pitchFamily="34" charset="-120"/>
              </a:rPr>
              <a:t>The whole market moves together</a:t>
            </a:r>
            <a:endParaRPr lang="en-US" sz="1400" dirty="0"/>
          </a:p>
        </p:txBody>
      </p:sp>
      <p:sp>
        <p:nvSpPr>
          <p:cNvPr id="15" name="Text 13"/>
          <p:cNvSpPr/>
          <p:nvPr/>
        </p:nvSpPr>
        <p:spPr>
          <a:xfrm>
            <a:off x="1143000" y="2148840"/>
            <a:ext cx="7315200" cy="36576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No significant difference between sectors. When the Central Bank moves or the pound drops, every sector feels it equally.</a:t>
            </a:r>
            <a:endParaRPr lang="en-US" sz="1050" dirty="0"/>
          </a:p>
        </p:txBody>
      </p:sp>
      <p:sp>
        <p:nvSpPr>
          <p:cNvPr id="16" name="Shape 14"/>
          <p:cNvSpPr/>
          <p:nvPr/>
        </p:nvSpPr>
        <p:spPr>
          <a:xfrm>
            <a:off x="457200" y="2697480"/>
            <a:ext cx="8229600" cy="777240"/>
          </a:xfrm>
          <a:prstGeom prst="rect">
            <a:avLst/>
          </a:prstGeom>
          <a:solidFill>
            <a:srgbClr val="0D2847"/>
          </a:solidFill>
          <a:ln/>
        </p:spPr>
      </p:sp>
      <p:sp>
        <p:nvSpPr>
          <p:cNvPr id="17" name="Shape 15"/>
          <p:cNvSpPr/>
          <p:nvPr/>
        </p:nvSpPr>
        <p:spPr>
          <a:xfrm>
            <a:off x="457200" y="2697480"/>
            <a:ext cx="54864" cy="777240"/>
          </a:xfrm>
          <a:prstGeom prst="rect">
            <a:avLst/>
          </a:prstGeom>
          <a:solidFill>
            <a:srgbClr val="EF4444"/>
          </a:solidFill>
          <a:ln/>
        </p:spPr>
      </p:sp>
      <p:sp>
        <p:nvSpPr>
          <p:cNvPr id="18" name="Shape 16"/>
          <p:cNvSpPr/>
          <p:nvPr/>
        </p:nvSpPr>
        <p:spPr>
          <a:xfrm>
            <a:off x="640080" y="2807208"/>
            <a:ext cx="347472" cy="347472"/>
          </a:xfrm>
          <a:prstGeom prst="ellipse">
            <a:avLst/>
          </a:prstGeom>
          <a:solidFill>
            <a:srgbClr val="EF4444"/>
          </a:solidFill>
          <a:ln/>
        </p:spPr>
      </p:sp>
      <p:sp>
        <p:nvSpPr>
          <p:cNvPr id="19" name="Text 17"/>
          <p:cNvSpPr/>
          <p:nvPr/>
        </p:nvSpPr>
        <p:spPr>
          <a:xfrm>
            <a:off x="640080" y="28072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3</a:t>
            </a:r>
            <a:endParaRPr lang="en-US" sz="1500" dirty="0"/>
          </a:p>
        </p:txBody>
      </p:sp>
      <p:sp>
        <p:nvSpPr>
          <p:cNvPr id="20" name="Text 18"/>
          <p:cNvSpPr/>
          <p:nvPr/>
        </p:nvSpPr>
        <p:spPr>
          <a:xfrm>
            <a:off x="1143000" y="2761488"/>
            <a:ext cx="7315200" cy="274320"/>
          </a:xfrm>
          <a:prstGeom prst="rect">
            <a:avLst/>
          </a:prstGeom>
          <a:noFill/>
          <a:ln/>
        </p:spPr>
        <p:txBody>
          <a:bodyPr wrap="square" lIns="0" tIns="0" rIns="0" bIns="0" rtlCol="0" anchor="ctr"/>
          <a:lstStyle/>
          <a:p>
            <a:pPr indent="0" marL="0">
              <a:buNone/>
            </a:pPr>
            <a:r>
              <a:rPr lang="en-US" sz="1400" b="1" dirty="0">
                <a:solidFill>
                  <a:srgbClr val="EF4444"/>
                </a:solidFill>
                <a:latin typeface="Trebuchet MS" pitchFamily="34" charset="0"/>
                <a:ea typeface="Trebuchet MS" pitchFamily="34" charset="-122"/>
                <a:cs typeface="Trebuchet MS" pitchFamily="34" charset="-120"/>
              </a:rPr>
              <a:t>Devaluations hit everyone</a:t>
            </a:r>
            <a:endParaRPr lang="en-US" sz="1400" dirty="0"/>
          </a:p>
        </p:txBody>
      </p:sp>
      <p:sp>
        <p:nvSpPr>
          <p:cNvPr id="21" name="Text 19"/>
          <p:cNvSpPr/>
          <p:nvPr/>
        </p:nvSpPr>
        <p:spPr>
          <a:xfrm>
            <a:off x="1143000" y="3063240"/>
            <a:ext cx="7315200" cy="36576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All three EGP devaluations caused volatility spikes across all stocks. Jan 2024 was the biggest shock — daily swings doubled overnight.</a:t>
            </a:r>
            <a:endParaRPr lang="en-US" sz="1050" dirty="0"/>
          </a:p>
        </p:txBody>
      </p:sp>
      <p:sp>
        <p:nvSpPr>
          <p:cNvPr id="22" name="Shape 20"/>
          <p:cNvSpPr/>
          <p:nvPr/>
        </p:nvSpPr>
        <p:spPr>
          <a:xfrm>
            <a:off x="457200" y="3611880"/>
            <a:ext cx="8229600" cy="777240"/>
          </a:xfrm>
          <a:prstGeom prst="rect">
            <a:avLst/>
          </a:prstGeom>
          <a:solidFill>
            <a:srgbClr val="0D2847"/>
          </a:solidFill>
          <a:ln/>
        </p:spPr>
      </p:sp>
      <p:sp>
        <p:nvSpPr>
          <p:cNvPr id="23" name="Shape 21"/>
          <p:cNvSpPr/>
          <p:nvPr/>
        </p:nvSpPr>
        <p:spPr>
          <a:xfrm>
            <a:off x="457200" y="3611880"/>
            <a:ext cx="54864" cy="777240"/>
          </a:xfrm>
          <a:prstGeom prst="rect">
            <a:avLst/>
          </a:prstGeom>
          <a:solidFill>
            <a:srgbClr val="F59E0B"/>
          </a:solidFill>
          <a:ln/>
        </p:spPr>
      </p:sp>
      <p:sp>
        <p:nvSpPr>
          <p:cNvPr id="24" name="Shape 22"/>
          <p:cNvSpPr/>
          <p:nvPr/>
        </p:nvSpPr>
        <p:spPr>
          <a:xfrm>
            <a:off x="640080" y="3721608"/>
            <a:ext cx="347472" cy="347472"/>
          </a:xfrm>
          <a:prstGeom prst="ellipse">
            <a:avLst/>
          </a:prstGeom>
          <a:solidFill>
            <a:srgbClr val="F59E0B"/>
          </a:solidFill>
          <a:ln/>
        </p:spPr>
      </p:sp>
      <p:sp>
        <p:nvSpPr>
          <p:cNvPr id="25" name="Text 23"/>
          <p:cNvSpPr/>
          <p:nvPr/>
        </p:nvSpPr>
        <p:spPr>
          <a:xfrm>
            <a:off x="640080" y="37216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Trebuchet MS" pitchFamily="34" charset="0"/>
                <a:ea typeface="Trebuchet MS" pitchFamily="34" charset="-122"/>
                <a:cs typeface="Trebuchet MS" pitchFamily="34" charset="-120"/>
              </a:rPr>
              <a:t>4</a:t>
            </a:r>
            <a:endParaRPr lang="en-US" sz="1500" dirty="0"/>
          </a:p>
        </p:txBody>
      </p:sp>
      <p:sp>
        <p:nvSpPr>
          <p:cNvPr id="26" name="Text 24"/>
          <p:cNvSpPr/>
          <p:nvPr/>
        </p:nvSpPr>
        <p:spPr>
          <a:xfrm>
            <a:off x="1143000" y="3675888"/>
            <a:ext cx="7315200" cy="274320"/>
          </a:xfrm>
          <a:prstGeom prst="rect">
            <a:avLst/>
          </a:prstGeom>
          <a:noFill/>
          <a:ln/>
        </p:spPr>
        <p:txBody>
          <a:bodyPr wrap="square" lIns="0" tIns="0" rIns="0" bIns="0" rtlCol="0" anchor="ctr"/>
          <a:lstStyle/>
          <a:p>
            <a:pPr indent="0" marL="0">
              <a:buNone/>
            </a:pPr>
            <a:r>
              <a:rPr lang="en-US" sz="1400" b="1" dirty="0">
                <a:solidFill>
                  <a:srgbClr val="F59E0B"/>
                </a:solidFill>
                <a:latin typeface="Trebuchet MS" pitchFamily="34" charset="0"/>
                <a:ea typeface="Trebuchet MS" pitchFamily="34" charset="-122"/>
                <a:cs typeface="Trebuchet MS" pitchFamily="34" charset="-120"/>
              </a:rPr>
              <a:t>Prediction has limits</a:t>
            </a:r>
            <a:endParaRPr lang="en-US" sz="1400" dirty="0"/>
          </a:p>
        </p:txBody>
      </p:sp>
      <p:sp>
        <p:nvSpPr>
          <p:cNvPr id="27" name="Text 25"/>
          <p:cNvSpPr/>
          <p:nvPr/>
        </p:nvSpPr>
        <p:spPr>
          <a:xfrm>
            <a:off x="1143000" y="3977640"/>
            <a:ext cx="7315200" cy="365760"/>
          </a:xfrm>
          <a:prstGeom prst="rect">
            <a:avLst/>
          </a:prstGeom>
          <a:noFill/>
          <a:ln/>
        </p:spPr>
        <p:txBody>
          <a:bodyPr wrap="square" lIns="0" tIns="0" rIns="0" bIns="0" rtlCol="0" anchor="ctr"/>
          <a:lstStyle/>
          <a:p>
            <a:pPr indent="0" marL="0">
              <a:buNone/>
            </a:pPr>
            <a:r>
              <a:rPr lang="en-US" sz="1050" dirty="0">
                <a:solidFill>
                  <a:srgbClr val="E2E8F0"/>
                </a:solidFill>
                <a:latin typeface="Calibri" pitchFamily="34" charset="0"/>
                <a:ea typeface="Calibri" pitchFamily="34" charset="-122"/>
                <a:cs typeface="Calibri" pitchFamily="34" charset="-120"/>
              </a:rPr>
              <a:t>Linear regression tracks trends nicely (R² &gt; 0.97) but can't see sudden crashes coming. The model reads yesterday's newspaper.</a:t>
            </a:r>
            <a:endParaRPr lang="en-US" sz="1050" dirty="0"/>
          </a:p>
        </p:txBody>
      </p:sp>
      <p:sp>
        <p:nvSpPr>
          <p:cNvPr id="28" name="Text 26"/>
          <p:cNvSpPr/>
          <p:nvPr/>
        </p:nvSpPr>
        <p:spPr>
          <a:xfrm>
            <a:off x="457200" y="4617720"/>
            <a:ext cx="8229600" cy="32004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Bottom line: understanding macro events — especially currency policy — matters more than any technical indicator for navigating the Egyptian market.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EGX30 Stock Analysis</dc:title>
  <dc:subject>PptxGenJS Presentation</dc:subject>
  <dc:creator>PptxGenJS</dc:creator>
  <cp:lastModifiedBy>PptxGenJS</cp:lastModifiedBy>
  <cp:revision>1</cp:revision>
  <dcterms:created xsi:type="dcterms:W3CDTF">2026-05-02T17:25:47Z</dcterms:created>
  <dcterms:modified xsi:type="dcterms:W3CDTF">2026-05-02T17:25:47Z</dcterms:modified>
</cp:coreProperties>
</file>